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53" y="10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839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Nada Thabet, Mission Assistant Ingénieur au Laboratoire Parole et Langage à Aix-en-Provence, encadrée par Philippe Blache, directeur de recherche. Je vous présente le travail conduit du 18 mai au 31 août. (8 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déroulé. Le coeur de l'exposé suit l'ordre chronologique du stage, parce que chaque étape de la méthode répond à un problème rencontré à la précédente. (15 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LPL est une unité mixte CNRS et Aix-Marseille Université, créée en 1972, l'un des grands centres européens sur la parole, avec une équipe très interdisciplinaire : linguistes, informaticiens, psychologues, neuroscientifiques, médecins. Ma mission portait sur les indices de prévisibilité linguistique et leur lien avec le traitement du langage, dans le cadre d'une analyse EEG menée au laboratoire. (35 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surprisal, c'est moins log2 de la probabilité du mot en contexte, exprimée en bits. Un mot attendu coûte peu, un mot inattendu coûte beaucoup, et l'hypothèse cognitive est que ce coût se lit dans le comportement. Elle se calcule de deux façons, sur une grammaire explicite ou sur un modèle neuronal, et c'est tout mon sujet. (35 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familles de travaux. La théorie, l'algorithmique du calcul incrémental, les déterminants connus de la durée qui me donnent mes contrôles, et surtout l'article de référence de Demberg et ses collègues : la surprise syntaxique allonge les mots d'environ 7 millisecondes par unité, sur le corpus de réunions AMI. C'est ce résultat que je vais chercher à retrouver. (30 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de départ réel est un échec : la surprise LLM ne donnait rien de convaincant sur l'EEG. Plutôt que d'essayer d'autres modèles, nous avons décidé de nous demander ce que cette mesure agrège, syntaxe, sémantique, collocations, fréquence, et de commencer par la seule composante explicitement construite, donc interprétable, la syntaxe. (35 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initiale appelait une réponse correcte mais trompeuse. Le LLM prédit mieux, mais en partie parce que sa surprise est corrélée à la fréquence à moins 0,75, et que la fréquence est déjà un déterminant connu de la durée. Le LLM gagne donc en partie parce qu'il redit la fréquence. J'ai reformulé le problème en termes d'effet propre, et c'est cette reformulation qui structure tout le reste. (35 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hypothèses. La première est un critère de validité : si la surprise agit par un mécanisme propre, son coefficient doit rester non nul une fois la longueur, la fréquence, la classe du mot et le débit neutralisés. La deuxième porte sur la nature des deux mesures. La troisième est un critère de robustesse. Ensemble elles donnent une prédiction testable. (35 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Première tâche, et la plus longue du stage. Un TextGrid aligné donne des mots et des silences, pas des phrases, alors que la surprise syntaxique se calcule sur une phrase. J'ai écarté Whisper, beaucoup trop lent à cette échelle, et développé un segmenteur fondé sur trois indices prosodiques normalisés en score z puis combinés. Je l'ai évalué contre la ponctuation du texte publié du livre : F1 de 0,76 contre 0,83 pour Whisper, qui dispose en plus d'un modèle de langue entier. (40 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mesures. À gauche, la surprise syntaxique exacte : à chaque mot, l'algorithme somme les probabilités de toutes les analyses compatibles avec le début de phrase. Je l'ai validée contre une énumération exhaustive, car ce type d'erreur ne fait pas planter le programme, il produit un nombre plausible et faux. À droite, GPT-2, avec la difficulté du réalignement des sous-unités. Tout le reste du traitement est identique, et c'est cette symétrie qui rend la comparaison valable. (40 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J'applique les deux mesures à deux corpus opposés : la lecture du Vieil Homme et la Mer, un seul narrateur, puis les réunions AMI, qui sont le corpus de l'article de Demberg. La logique est de commencer par le propre. Et six contrôles, chacun répondant à une objection précise tirée de la littérature. Je ne les ai pas choisis pour obtenir un résultat, mais parce que chacun est une explication concurrente à écarter. (35 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durée brute, les deux mesures montent : plus un mot est surprenant, plus il est long. Mais cette durée additionne trois facteurs corrélés entre eux. Le constat ne départage donc pas les deux mesures, il rend le contrôle obligatoire. (30 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contrôle, le contraste est net. À gauche, un coefficient hautement significatif : un bit de surprise syntaxique allonge le mot d'environ 1,7 milliseconde, toutes choses égales par ailleurs. À droite, l'intervalle de confiance contient zéro, l'effet est réellement nul. L'effet de Demberg est donc retrouvé, mais pour la seule mesure syntaxique. (45 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AMI, le corpus de l'article, je restreins aux 12 réunions communes aux deux mesures pour comparer à données égales, et j'ajoute le locuteur en effet aléatoire, ce qui donne un modèle mixte. L'effet syntaxique tient : plus faible que sur la lecture, mais significatif. Le LLM devient négatif, ce qui voudrait dire qu'un mot plus surprenant est plus court. Cela n'a aucun sens cognitif, c'est donc un artefact. (45 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objection sérieuse se pose ici. Si le contrôle de la fréquence détruisait tout prédicteur qui lui est corrélé, il devrait détruire les deux effets. Sur la figure, le nuage LLM est resserré autour de sa droite, r égale moins 0,75. Le nuage syntaxique reste large, moins 0,53. Il reste donc de l'information syntaxique que la fréquence n'explique pas. (35 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construit un indicateur, l'EXTRA. Si la surprise n'agissait sur la durée que par le canal de la fréquence, sa corrélation avec la durée serait entièrement prévisible à partir des deux autres corrélations. L'écart entre l'observé et le prévu est donc la part propre. Il est positif pour le syntaxique, nul ou négatif pour le LLM. C'est le résultat central du stage : ce qui, dans la surprise LLM, prédisait la durée, c'était la fréquence. (45 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le rapport, mon encadrant m'a demandé de refaire les figures sans le décile de surprise le plus élevé, soupçonné d'être aberrant. Résultat : l'effet syntaxique se renforce dans les deux corpus. Un seul cas s'inverse. Et sur AMI, retirer le décile aggrave le négatif du LLM, ce qui réfute l'hypothèse du décile responsable. Je conserve donc ces données, et je le justifie dans un compte rendu dédié. (35 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message est cohérent sur les deux corpus et sur les deux indicateurs : seule la mesure syntaxique conserve un effet propre, et l'EXTRA explique pourquoi. Mes trois hypothèses de départ sont vérifiées. Et la conséquence est que la modélisation grammaticale n'est pas rendue obsolète par les modèles neuronaux. (40 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livrables sont réutilisables tels quels, et l'usage est déjà engagé : les quatre indices sont transmis à l'équipe de neuro-imagerie, et une publication scientifique est en préparation. (30 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propositions. La première est le test décisif : rejouer l'EEG avec les indices décomposés, pour savoir si la surprise syntaxique seule prédit mieux le signal cérébral que la surprise agrégée qui avait échoué en mai. La deuxième prolonge la décomposition côté sémantique, ce qui donnerait une dissociation syntaxe sémantique alternative à Caucheteux. La troisième consolide le résultat spontané, qui repose sur 12 réunions. La quatrième corrige le modèle plutôt que les données. (40 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apprentissages qui dépassent la linguistique. Produire un chiffre est rapide, démontrer qu'il répond à la question prend l'essentiel du temps. Face à une durée qui diminuait avec la surprise, la réaction utile a été de diagnostiquer, pas d'interpréter. Et identifier qu'une question est mal posée est une compétence d'ingénieur autant que de chercheur. (35 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de votre attention. (8 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Échelles verrouillées pour que les deux figures se superposent, seul le point disparaît.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décile est composé à 94 % de mots de contenu contre 49 % ailleurs. Trois explications testées, deux écartées par les données.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rappel du modèle et de l'interprétation du coefficient, si la question est posée.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37422" y="0"/>
            <a:ext cx="2047341"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37422" y="1517904"/>
            <a:ext cx="2047341" cy="3273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ogo_lpl.jpg"/>
          <p:cNvPicPr>
            <a:picLocks noChangeAspect="1"/>
          </p:cNvPicPr>
          <p:nvPr/>
        </p:nvPicPr>
        <p:blipFill>
          <a:blip r:embed="rId3"/>
          <a:stretch>
            <a:fillRect/>
          </a:stretch>
        </p:blipFill>
        <p:spPr>
          <a:xfrm>
            <a:off x="8686800" y="2236124"/>
            <a:ext cx="1851244" cy="1851244"/>
          </a:xfrm>
          <a:prstGeom prst="rect">
            <a:avLst/>
          </a:prstGeom>
        </p:spPr>
      </p:pic>
      <p:pic>
        <p:nvPicPr>
          <p:cNvPr id="22" name="Picture 21" descr="logo_ecc.png"/>
          <p:cNvPicPr>
            <a:picLocks noChangeAspect="1"/>
          </p:cNvPicPr>
          <p:nvPr/>
        </p:nvPicPr>
        <p:blipFill>
          <a:blip r:embed="rId4"/>
          <a:stretch>
            <a:fillRect/>
          </a:stretch>
        </p:blipFill>
        <p:spPr>
          <a:xfrm>
            <a:off x="1133856" y="128016"/>
            <a:ext cx="1731264" cy="1298448"/>
          </a:xfrm>
          <a:prstGeom prst="rect">
            <a:avLst/>
          </a:prstGeom>
        </p:spPr>
      </p:pic>
      <p:sp>
        <p:nvSpPr>
          <p:cNvPr id="23" name="TextBox 22"/>
          <p:cNvSpPr txBox="1"/>
          <p:nvPr/>
        </p:nvSpPr>
        <p:spPr>
          <a:xfrm>
            <a:off x="2194560" y="731520"/>
            <a:ext cx="6309360" cy="2377440"/>
          </a:xfrm>
          <a:prstGeom prst="rect">
            <a:avLst/>
          </a:prstGeom>
          <a:noFill/>
        </p:spPr>
        <p:txBody>
          <a:bodyPr wrap="square" lIns="0" tIns="0" rIns="0" bIns="0">
            <a:spAutoFit/>
          </a:bodyPr>
          <a:lstStyle/>
          <a:p>
            <a:pPr algn="ctr">
              <a:lnSpc>
                <a:spcPct val="105000"/>
              </a:lnSpc>
            </a:pPr>
            <a:r>
              <a:rPr sz="4200" b="1" i="0">
                <a:solidFill>
                  <a:srgbClr val="123D33"/>
                </a:solidFill>
                <a:latin typeface="Calibri"/>
              </a:rPr>
              <a:t>SOUTENANCE</a:t>
            </a:r>
          </a:p>
          <a:p>
            <a:pPr algn="ctr">
              <a:lnSpc>
                <a:spcPct val="105000"/>
              </a:lnSpc>
            </a:pPr>
            <a:r>
              <a:rPr sz="4200" b="1" i="0">
                <a:solidFill>
                  <a:srgbClr val="123D33"/>
                </a:solidFill>
                <a:latin typeface="Calibri"/>
              </a:rPr>
              <a:t>DE STAGE</a:t>
            </a:r>
          </a:p>
          <a:p>
            <a:pPr algn="ctr">
              <a:lnSpc>
                <a:spcPct val="105000"/>
              </a:lnSpc>
            </a:pPr>
            <a:r>
              <a:rPr sz="4200" b="1" i="0">
                <a:solidFill>
                  <a:srgbClr val="123D33"/>
                </a:solidFill>
                <a:latin typeface="Calibri"/>
              </a:rPr>
              <a:t>MISSION AI</a:t>
            </a:r>
          </a:p>
        </p:txBody>
      </p:sp>
      <p:sp>
        <p:nvSpPr>
          <p:cNvPr id="24" name="TextBox 23"/>
          <p:cNvSpPr txBox="1"/>
          <p:nvPr/>
        </p:nvSpPr>
        <p:spPr>
          <a:xfrm>
            <a:off x="2194560" y="3401568"/>
            <a:ext cx="6309360" cy="1371600"/>
          </a:xfrm>
          <a:prstGeom prst="rect">
            <a:avLst/>
          </a:prstGeom>
          <a:noFill/>
        </p:spPr>
        <p:txBody>
          <a:bodyPr wrap="square">
            <a:spAutoFit/>
          </a:bodyPr>
          <a:lstStyle/>
          <a:p>
            <a:pPr algn="ctr">
              <a:lnSpc>
                <a:spcPct val="125000"/>
              </a:lnSpc>
            </a:pPr>
            <a:r>
              <a:rPr sz="1300" b="1">
                <a:solidFill>
                  <a:srgbClr val="123D33"/>
                </a:solidFill>
                <a:latin typeface="Calibri"/>
              </a:rPr>
              <a:t>Nom de l'entreprise : </a:t>
            </a:r>
            <a:r>
              <a:rPr sz="1300">
                <a:solidFill>
                  <a:srgbClr val="222B33"/>
                </a:solidFill>
                <a:latin typeface="Calibri"/>
              </a:rPr>
              <a:t>Laboratoire Parole et Langage</a:t>
            </a:r>
          </a:p>
          <a:p>
            <a:pPr algn="ctr">
              <a:lnSpc>
                <a:spcPct val="125000"/>
              </a:lnSpc>
            </a:pPr>
            <a:r>
              <a:rPr sz="1300" b="1">
                <a:solidFill>
                  <a:srgbClr val="123D33"/>
                </a:solidFill>
                <a:latin typeface="Calibri"/>
              </a:rPr>
              <a:t>Stage réalisé : </a:t>
            </a:r>
            <a:r>
              <a:rPr sz="1300">
                <a:solidFill>
                  <a:srgbClr val="222B33"/>
                </a:solidFill>
                <a:latin typeface="Calibri"/>
              </a:rPr>
              <a:t>Du 18/05/2026 au 31/08/2026</a:t>
            </a:r>
          </a:p>
          <a:p>
            <a:pPr algn="ctr">
              <a:lnSpc>
                <a:spcPct val="125000"/>
              </a:lnSpc>
            </a:pPr>
            <a:r>
              <a:rPr sz="1300" b="1">
                <a:solidFill>
                  <a:srgbClr val="123D33"/>
                </a:solidFill>
                <a:latin typeface="Calibri"/>
              </a:rPr>
              <a:t>Lieu : </a:t>
            </a:r>
            <a:r>
              <a:rPr sz="1300">
                <a:solidFill>
                  <a:srgbClr val="222B33"/>
                </a:solidFill>
                <a:latin typeface="Calibri"/>
              </a:rPr>
              <a:t>Aix-en-Provence, France</a:t>
            </a:r>
          </a:p>
          <a:p>
            <a:pPr algn="ctr">
              <a:lnSpc>
                <a:spcPct val="125000"/>
              </a:lnSpc>
            </a:pPr>
            <a:r>
              <a:rPr sz="1300" b="1">
                <a:solidFill>
                  <a:srgbClr val="123D33"/>
                </a:solidFill>
                <a:latin typeface="Calibri"/>
              </a:rPr>
              <a:t>Tuteur de stage : </a:t>
            </a:r>
            <a:r>
              <a:rPr sz="1300">
                <a:solidFill>
                  <a:srgbClr val="222B33"/>
                </a:solidFill>
                <a:latin typeface="Calibri"/>
              </a:rPr>
              <a:t>Mr. Philippe Blache</a:t>
            </a:r>
          </a:p>
          <a:p>
            <a:pPr algn="ctr">
              <a:lnSpc>
                <a:spcPct val="125000"/>
              </a:lnSpc>
            </a:pPr>
            <a:r>
              <a:rPr sz="1300" b="1">
                <a:solidFill>
                  <a:srgbClr val="123D33"/>
                </a:solidFill>
                <a:latin typeface="Calibri"/>
              </a:rPr>
              <a:t>Fonction : </a:t>
            </a:r>
            <a:r>
              <a:rPr sz="1300">
                <a:solidFill>
                  <a:srgbClr val="222B33"/>
                </a:solidFill>
                <a:latin typeface="Calibri"/>
              </a:rPr>
              <a:t>Directeur de recherche</a:t>
            </a:r>
          </a:p>
        </p:txBody>
      </p:sp>
      <p:sp>
        <p:nvSpPr>
          <p:cNvPr id="25" name="TextBox 24"/>
          <p:cNvSpPr txBox="1"/>
          <p:nvPr/>
        </p:nvSpPr>
        <p:spPr>
          <a:xfrm>
            <a:off x="1234440" y="5989320"/>
            <a:ext cx="2743200" cy="731520"/>
          </a:xfrm>
          <a:prstGeom prst="rect">
            <a:avLst/>
          </a:prstGeom>
          <a:noFill/>
        </p:spPr>
        <p:txBody>
          <a:bodyPr wrap="square" lIns="0" tIns="0" rIns="0" bIns="0">
            <a:spAutoFit/>
          </a:bodyPr>
          <a:lstStyle/>
          <a:p>
            <a:pPr algn="l">
              <a:lnSpc>
                <a:spcPct val="120000"/>
              </a:lnSpc>
            </a:pPr>
            <a:r>
              <a:rPr sz="1300" b="1" i="0">
                <a:solidFill>
                  <a:srgbClr val="123D33"/>
                </a:solidFill>
                <a:latin typeface="Calibri"/>
              </a:rPr>
              <a:t>Nom :THABET</a:t>
            </a:r>
          </a:p>
          <a:p>
            <a:pPr algn="l">
              <a:lnSpc>
                <a:spcPct val="120000"/>
              </a:lnSpc>
            </a:pPr>
            <a:r>
              <a:rPr sz="1300" b="1" i="0">
                <a:solidFill>
                  <a:srgbClr val="123D33"/>
                </a:solidFill>
                <a:latin typeface="Calibri"/>
              </a:rPr>
              <a:t>Prénom :Nada</a:t>
            </a:r>
          </a:p>
        </p:txBody>
      </p:sp>
      <p:sp>
        <p:nvSpPr>
          <p:cNvPr id="26" name="TextBox 25"/>
          <p:cNvSpPr txBox="1"/>
          <p:nvPr/>
        </p:nvSpPr>
        <p:spPr>
          <a:xfrm>
            <a:off x="4846320" y="6199632"/>
            <a:ext cx="3840480" cy="365760"/>
          </a:xfrm>
          <a:prstGeom prst="rect">
            <a:avLst/>
          </a:prstGeom>
          <a:noFill/>
        </p:spPr>
        <p:txBody>
          <a:bodyPr wrap="square" lIns="0" tIns="0" rIns="0" bIns="0">
            <a:spAutoFit/>
          </a:bodyPr>
          <a:lstStyle/>
          <a:p>
            <a:pPr algn="ctr">
              <a:lnSpc>
                <a:spcPct val="120000"/>
              </a:lnSpc>
            </a:pPr>
            <a:r>
              <a:rPr sz="1300" b="1" i="0">
                <a:solidFill>
                  <a:srgbClr val="123D33"/>
                </a:solidFill>
                <a:latin typeface="Calibri"/>
              </a:rPr>
              <a:t>Année académique : 2025-2026</a:t>
            </a:r>
          </a:p>
        </p:txBody>
      </p:sp>
      <p:sp>
        <p:nvSpPr>
          <p:cNvPr id="27" name="TextBox 26"/>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PLAN DE LA SOUTENANCE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ogo_ecc.png"/>
          <p:cNvPicPr>
            <a:picLocks noChangeAspect="1"/>
          </p:cNvPicPr>
          <p:nvPr/>
        </p:nvPicPr>
        <p:blipFill>
          <a:blip r:embed="rId3"/>
          <a:stretch>
            <a:fillRect/>
          </a:stretch>
        </p:blipFill>
        <p:spPr>
          <a:xfrm>
            <a:off x="10927080" y="269332"/>
            <a:ext cx="755904" cy="566928"/>
          </a:xfrm>
          <a:prstGeom prst="rect">
            <a:avLst/>
          </a:prstGeom>
        </p:spPr>
      </p:pic>
      <p:sp>
        <p:nvSpPr>
          <p:cNvPr id="22" name="Rounded Rectangle 21"/>
          <p:cNvSpPr/>
          <p:nvPr/>
        </p:nvSpPr>
        <p:spPr>
          <a:xfrm>
            <a:off x="2377440" y="153619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606040" y="165506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1</a:t>
            </a:r>
          </a:p>
        </p:txBody>
      </p:sp>
      <p:sp>
        <p:nvSpPr>
          <p:cNvPr id="24" name="TextBox 23"/>
          <p:cNvSpPr txBox="1"/>
          <p:nvPr/>
        </p:nvSpPr>
        <p:spPr>
          <a:xfrm>
            <a:off x="3154680" y="169164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Le laboratoire et ma mission</a:t>
            </a:r>
          </a:p>
        </p:txBody>
      </p:sp>
      <p:sp>
        <p:nvSpPr>
          <p:cNvPr id="25" name="Rounded Rectangle 24"/>
          <p:cNvSpPr/>
          <p:nvPr/>
        </p:nvSpPr>
        <p:spPr>
          <a:xfrm>
            <a:off x="2377440" y="226771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06040" y="238658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2</a:t>
            </a:r>
          </a:p>
        </p:txBody>
      </p:sp>
      <p:sp>
        <p:nvSpPr>
          <p:cNvPr id="27" name="TextBox 26"/>
          <p:cNvSpPr txBox="1"/>
          <p:nvPr/>
        </p:nvSpPr>
        <p:spPr>
          <a:xfrm>
            <a:off x="3154680" y="242316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Contexte, problématique, hypothèses</a:t>
            </a:r>
          </a:p>
        </p:txBody>
      </p:sp>
      <p:sp>
        <p:nvSpPr>
          <p:cNvPr id="28" name="Rounded Rectangle 27"/>
          <p:cNvSpPr/>
          <p:nvPr/>
        </p:nvSpPr>
        <p:spPr>
          <a:xfrm>
            <a:off x="2377440" y="299923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606040" y="311810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3</a:t>
            </a:r>
          </a:p>
        </p:txBody>
      </p:sp>
      <p:sp>
        <p:nvSpPr>
          <p:cNvPr id="30" name="TextBox 29"/>
          <p:cNvSpPr txBox="1"/>
          <p:nvPr/>
        </p:nvSpPr>
        <p:spPr>
          <a:xfrm>
            <a:off x="3154680" y="315468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La méthode, dans l'ordre du stage</a:t>
            </a:r>
          </a:p>
        </p:txBody>
      </p:sp>
      <p:sp>
        <p:nvSpPr>
          <p:cNvPr id="31" name="Rounded Rectangle 30"/>
          <p:cNvSpPr/>
          <p:nvPr/>
        </p:nvSpPr>
        <p:spPr>
          <a:xfrm>
            <a:off x="2377440" y="373075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606040" y="384962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4</a:t>
            </a:r>
          </a:p>
        </p:txBody>
      </p:sp>
      <p:sp>
        <p:nvSpPr>
          <p:cNvPr id="33" name="TextBox 32"/>
          <p:cNvSpPr txBox="1"/>
          <p:nvPr/>
        </p:nvSpPr>
        <p:spPr>
          <a:xfrm>
            <a:off x="3154680" y="388620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Les résultats sur les deux corpus</a:t>
            </a:r>
          </a:p>
        </p:txBody>
      </p:sp>
      <p:sp>
        <p:nvSpPr>
          <p:cNvPr id="34" name="Rounded Rectangle 33"/>
          <p:cNvSpPr/>
          <p:nvPr/>
        </p:nvSpPr>
        <p:spPr>
          <a:xfrm>
            <a:off x="2377440" y="446227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606040" y="458114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5</a:t>
            </a:r>
          </a:p>
        </p:txBody>
      </p:sp>
      <p:sp>
        <p:nvSpPr>
          <p:cNvPr id="36" name="TextBox 35"/>
          <p:cNvSpPr txBox="1"/>
          <p:nvPr/>
        </p:nvSpPr>
        <p:spPr>
          <a:xfrm>
            <a:off x="3154680" y="461772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Le retournement</a:t>
            </a:r>
          </a:p>
        </p:txBody>
      </p:sp>
      <p:sp>
        <p:nvSpPr>
          <p:cNvPr id="37" name="Rounded Rectangle 36"/>
          <p:cNvSpPr/>
          <p:nvPr/>
        </p:nvSpPr>
        <p:spPr>
          <a:xfrm>
            <a:off x="2377440" y="5193792"/>
            <a:ext cx="7498079" cy="6035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606040" y="5312664"/>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6</a:t>
            </a:r>
          </a:p>
        </p:txBody>
      </p:sp>
      <p:sp>
        <p:nvSpPr>
          <p:cNvPr id="39" name="TextBox 38"/>
          <p:cNvSpPr txBox="1"/>
          <p:nvPr/>
        </p:nvSpPr>
        <p:spPr>
          <a:xfrm>
            <a:off x="3154680" y="5349240"/>
            <a:ext cx="630936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Bilan et propositions</a:t>
            </a:r>
          </a:p>
        </p:txBody>
      </p:sp>
      <p:sp>
        <p:nvSpPr>
          <p:cNvPr id="40" name="TextBox 39"/>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LE LABORATOIRE ET MA MISSION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Présentation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554480"/>
            <a:ext cx="4937760" cy="320040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37360" y="1810512"/>
            <a:ext cx="4389120" cy="365760"/>
          </a:xfrm>
          <a:prstGeom prst="rect">
            <a:avLst/>
          </a:prstGeom>
          <a:noFill/>
        </p:spPr>
        <p:txBody>
          <a:bodyPr wrap="square" lIns="0" tIns="0" rIns="0" bIns="0">
            <a:spAutoFit/>
          </a:bodyPr>
          <a:lstStyle/>
          <a:p>
            <a:pPr algn="l">
              <a:lnSpc>
                <a:spcPct val="120000"/>
              </a:lnSpc>
            </a:pPr>
            <a:r>
              <a:rPr sz="1700" b="1" i="0">
                <a:solidFill>
                  <a:srgbClr val="1B4A56"/>
                </a:solidFill>
                <a:latin typeface="Calibri"/>
              </a:rPr>
              <a:t>Laboratoire Parole et Langage</a:t>
            </a:r>
          </a:p>
        </p:txBody>
      </p:sp>
      <p:sp>
        <p:nvSpPr>
          <p:cNvPr id="25" name="TextBox 24"/>
          <p:cNvSpPr txBox="1"/>
          <p:nvPr/>
        </p:nvSpPr>
        <p:spPr>
          <a:xfrm>
            <a:off x="1737360" y="2286000"/>
            <a:ext cx="4389120" cy="228600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UMR 7309, CNRS et Aix-Marseille Université</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Aix-en-Provence, créé en 1972</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Linguistes, informaticiens, psychologues,</a:t>
            </a:r>
          </a:p>
          <a:p>
            <a:pPr algn="l">
              <a:lnSpc>
                <a:spcPct val="120000"/>
              </a:lnSpc>
            </a:pPr>
            <a:r>
              <a:rPr sz="1500" b="0" i="0">
                <a:solidFill>
                  <a:srgbClr val="222B33"/>
                </a:solidFill>
                <a:latin typeface="Calibri"/>
              </a:rPr>
              <a:t>neuroscientifiques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Objet : production, perception et</a:t>
            </a:r>
          </a:p>
          <a:p>
            <a:pPr algn="l">
              <a:lnSpc>
                <a:spcPct val="120000"/>
              </a:lnSpc>
            </a:pPr>
            <a:r>
              <a:rPr sz="1500" b="0" i="0">
                <a:solidFill>
                  <a:srgbClr val="222B33"/>
                </a:solidFill>
                <a:latin typeface="Calibri"/>
              </a:rPr>
              <a:t>compréhension du langage</a:t>
            </a:r>
          </a:p>
        </p:txBody>
      </p:sp>
      <p:sp>
        <p:nvSpPr>
          <p:cNvPr id="26" name="Rounded Rectangle 25"/>
          <p:cNvSpPr/>
          <p:nvPr/>
        </p:nvSpPr>
        <p:spPr>
          <a:xfrm>
            <a:off x="6720840" y="1554480"/>
            <a:ext cx="4754880" cy="320040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1810512"/>
            <a:ext cx="4206240" cy="365760"/>
          </a:xfrm>
          <a:prstGeom prst="rect">
            <a:avLst/>
          </a:prstGeom>
          <a:noFill/>
        </p:spPr>
        <p:txBody>
          <a:bodyPr wrap="square" lIns="0" tIns="0" rIns="0" bIns="0">
            <a:spAutoFit/>
          </a:bodyPr>
          <a:lstStyle/>
          <a:p>
            <a:pPr algn="l">
              <a:lnSpc>
                <a:spcPct val="120000"/>
              </a:lnSpc>
            </a:pPr>
            <a:r>
              <a:rPr sz="1700" b="1" i="0" dirty="0">
                <a:solidFill>
                  <a:srgbClr val="1B4A56"/>
                </a:solidFill>
                <a:latin typeface="Calibri"/>
              </a:rPr>
              <a:t>Ma mission</a:t>
            </a:r>
          </a:p>
        </p:txBody>
      </p:sp>
      <p:sp>
        <p:nvSpPr>
          <p:cNvPr id="28" name="TextBox 27"/>
          <p:cNvSpPr txBox="1"/>
          <p:nvPr/>
        </p:nvSpPr>
        <p:spPr>
          <a:xfrm>
            <a:off x="6949439" y="2286000"/>
            <a:ext cx="4526281" cy="2197525"/>
          </a:xfrm>
          <a:prstGeom prst="rect">
            <a:avLst/>
          </a:prstGeom>
          <a:noFill/>
        </p:spPr>
        <p:txBody>
          <a:bodyPr wrap="square" lIns="0" tIns="0" rIns="0" bIns="0">
            <a:spAutoFit/>
          </a:bodyPr>
          <a:lstStyle/>
          <a:p>
            <a:pPr algn="l">
              <a:lnSpc>
                <a:spcPct val="120000"/>
              </a:lnSpc>
            </a:pPr>
            <a:r>
              <a:rPr lang="fr-FR" sz="1500" b="0" i="0" dirty="0">
                <a:solidFill>
                  <a:srgbClr val="222B33"/>
                </a:solidFill>
                <a:latin typeface="Calibri"/>
              </a:rPr>
              <a:t>Comparer les méthodes de calcul de l'indice de surprise linguistique</a:t>
            </a:r>
          </a:p>
          <a:p>
            <a:pPr algn="l">
              <a:lnSpc>
                <a:spcPct val="120000"/>
              </a:lnSpc>
            </a:pPr>
            <a:endParaRPr lang="fr-FR" sz="1500" b="0" i="0" dirty="0">
              <a:solidFill>
                <a:srgbClr val="222B33"/>
              </a:solidFill>
              <a:latin typeface="Calibri"/>
            </a:endParaRPr>
          </a:p>
          <a:p>
            <a:pPr algn="l">
              <a:lnSpc>
                <a:spcPct val="120000"/>
              </a:lnSpc>
            </a:pPr>
            <a:r>
              <a:rPr lang="fr-FR" sz="1500" b="1" i="0" dirty="0">
                <a:solidFill>
                  <a:srgbClr val="222B33"/>
                </a:solidFill>
                <a:latin typeface="Calibri"/>
              </a:rPr>
              <a:t>Approche syntaxique </a:t>
            </a:r>
            <a:r>
              <a:rPr lang="fr-FR" sz="1500" b="0" i="0" dirty="0">
                <a:solidFill>
                  <a:srgbClr val="222B33"/>
                </a:solidFill>
                <a:latin typeface="Calibri"/>
              </a:rPr>
              <a:t>: entropie de la structure de la phrase</a:t>
            </a:r>
          </a:p>
          <a:p>
            <a:pPr algn="l">
              <a:lnSpc>
                <a:spcPct val="120000"/>
              </a:lnSpc>
            </a:pPr>
            <a:endParaRPr lang="fr-FR" sz="1500" b="0" i="0" dirty="0">
              <a:solidFill>
                <a:srgbClr val="222B33"/>
              </a:solidFill>
              <a:latin typeface="Calibri"/>
            </a:endParaRPr>
          </a:p>
          <a:p>
            <a:pPr algn="l">
              <a:lnSpc>
                <a:spcPct val="120000"/>
              </a:lnSpc>
            </a:pPr>
            <a:r>
              <a:rPr lang="fr-FR" sz="1500" b="1" i="0" dirty="0">
                <a:solidFill>
                  <a:srgbClr val="222B33"/>
                </a:solidFill>
                <a:latin typeface="Calibri"/>
              </a:rPr>
              <a:t>Approche neuronale </a:t>
            </a:r>
            <a:r>
              <a:rPr lang="fr-FR" sz="1500" b="0" i="0" dirty="0">
                <a:solidFill>
                  <a:srgbClr val="222B33"/>
                </a:solidFill>
                <a:latin typeface="Calibri"/>
              </a:rPr>
              <a:t>: </a:t>
            </a:r>
            <a:r>
              <a:rPr lang="fr-FR" sz="1500" b="0" i="0" dirty="0" err="1">
                <a:solidFill>
                  <a:srgbClr val="222B33"/>
                </a:solidFill>
                <a:latin typeface="Calibri"/>
              </a:rPr>
              <a:t>logits</a:t>
            </a:r>
            <a:r>
              <a:rPr lang="fr-FR" sz="1500" b="0" i="0" dirty="0">
                <a:solidFill>
                  <a:srgbClr val="222B33"/>
                </a:solidFill>
                <a:latin typeface="Calibri"/>
              </a:rPr>
              <a:t> d'un LLM</a:t>
            </a:r>
          </a:p>
          <a:p>
            <a:pPr algn="l">
              <a:lnSpc>
                <a:spcPct val="120000"/>
              </a:lnSpc>
            </a:pPr>
            <a:endParaRPr lang="fr-FR" sz="1500" b="0" i="0" dirty="0">
              <a:solidFill>
                <a:srgbClr val="222B33"/>
              </a:solidFill>
              <a:latin typeface="Calibri"/>
            </a:endParaRPr>
          </a:p>
        </p:txBody>
      </p:sp>
      <p:sp>
        <p:nvSpPr>
          <p:cNvPr id="29" name="Rounded Rectangle 28"/>
          <p:cNvSpPr/>
          <p:nvPr/>
        </p:nvSpPr>
        <p:spPr>
          <a:xfrm>
            <a:off x="1417320" y="512064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17320" y="512064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64208" y="526694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 travail a pris un tournant dès le premier mois. C'est par là que je commence.</a:t>
            </a:r>
          </a:p>
        </p:txBody>
      </p:sp>
      <p:sp>
        <p:nvSpPr>
          <p:cNvPr id="32" name="TextBox 31"/>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LE CONTEXTE : L'INDICE DE SURPRISE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Contexte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TextBox 22"/>
          <p:cNvSpPr txBox="1"/>
          <p:nvPr/>
        </p:nvSpPr>
        <p:spPr>
          <a:xfrm>
            <a:off x="1417320" y="1463040"/>
            <a:ext cx="10058400" cy="457200"/>
          </a:xfrm>
          <a:prstGeom prst="rect">
            <a:avLst/>
          </a:prstGeom>
          <a:noFill/>
        </p:spPr>
        <p:txBody>
          <a:bodyPr wrap="square" lIns="0" tIns="0" rIns="0" bIns="0">
            <a:spAutoFit/>
          </a:bodyPr>
          <a:lstStyle/>
          <a:p>
            <a:pPr algn="l">
              <a:lnSpc>
                <a:spcPct val="120000"/>
              </a:lnSpc>
            </a:pPr>
            <a:r>
              <a:rPr sz="1900" b="1" i="0">
                <a:solidFill>
                  <a:srgbClr val="1B4A56"/>
                </a:solidFill>
                <a:latin typeface="Calibri"/>
              </a:rPr>
              <a:t>Un mot difficile à prévoir est-il articulé plus longuement ?</a:t>
            </a:r>
          </a:p>
        </p:txBody>
      </p:sp>
      <p:sp>
        <p:nvSpPr>
          <p:cNvPr id="24" name="Rounded Rectangle 23"/>
          <p:cNvSpPr/>
          <p:nvPr/>
        </p:nvSpPr>
        <p:spPr>
          <a:xfrm>
            <a:off x="2514600" y="2155612"/>
            <a:ext cx="4355870" cy="77724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44959" y="2361768"/>
            <a:ext cx="5394960" cy="411480"/>
          </a:xfrm>
          <a:prstGeom prst="rect">
            <a:avLst/>
          </a:prstGeom>
          <a:noFill/>
        </p:spPr>
        <p:txBody>
          <a:bodyPr wrap="square" lIns="0" tIns="0" rIns="0" bIns="0">
            <a:spAutoFit/>
          </a:bodyPr>
          <a:lstStyle/>
          <a:p>
            <a:pPr algn="ctr">
              <a:lnSpc>
                <a:spcPct val="120000"/>
              </a:lnSpc>
            </a:pPr>
            <a:r>
              <a:rPr sz="1900" b="1" i="0" dirty="0">
                <a:solidFill>
                  <a:srgbClr val="123D33"/>
                </a:solidFill>
                <a:latin typeface="Calibri"/>
              </a:rPr>
              <a:t>surprise(w) = − log₂ P(w | </a:t>
            </a:r>
            <a:r>
              <a:rPr sz="1900" b="1" i="0" dirty="0" err="1">
                <a:solidFill>
                  <a:srgbClr val="123D33"/>
                </a:solidFill>
                <a:latin typeface="Calibri"/>
              </a:rPr>
              <a:t>contexte</a:t>
            </a:r>
            <a:r>
              <a:rPr sz="1900" b="1" i="0" dirty="0">
                <a:solidFill>
                  <a:srgbClr val="123D33"/>
                </a:solidFill>
                <a:latin typeface="Calibri"/>
              </a:rPr>
              <a:t>)</a:t>
            </a:r>
          </a:p>
        </p:txBody>
      </p:sp>
      <p:sp>
        <p:nvSpPr>
          <p:cNvPr id="26" name="TextBox 25"/>
          <p:cNvSpPr txBox="1"/>
          <p:nvPr/>
        </p:nvSpPr>
        <p:spPr>
          <a:xfrm>
            <a:off x="1417320" y="3200400"/>
            <a:ext cx="5852160" cy="155448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En bits. Un mot attendu en coûte peu,</a:t>
            </a:r>
          </a:p>
          <a:p>
            <a:pPr algn="l">
              <a:lnSpc>
                <a:spcPct val="120000"/>
              </a:lnSpc>
            </a:pPr>
            <a:r>
              <a:rPr sz="1500" b="0" i="0">
                <a:solidFill>
                  <a:srgbClr val="222B33"/>
                </a:solidFill>
                <a:latin typeface="Calibri"/>
              </a:rPr>
              <a:t>un mot inattendu beaucoup.</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Indice central pour l'étude des mécanismes</a:t>
            </a:r>
          </a:p>
          <a:p>
            <a:pPr algn="l">
              <a:lnSpc>
                <a:spcPct val="120000"/>
              </a:lnSpc>
            </a:pPr>
            <a:r>
              <a:rPr sz="1500" b="0" i="0">
                <a:solidFill>
                  <a:srgbClr val="222B33"/>
                </a:solidFill>
                <a:latin typeface="Calibri"/>
              </a:rPr>
              <a:t>cognitifs et cérébraux du traitement du langage.</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Ce coût se lirait dans la durée, le regard, l'EEG.</a:t>
            </a:r>
          </a:p>
        </p:txBody>
      </p:sp>
      <p:sp>
        <p:nvSpPr>
          <p:cNvPr id="28" name="Rounded Rectangle 27"/>
          <p:cNvSpPr/>
          <p:nvPr/>
        </p:nvSpPr>
        <p:spPr>
          <a:xfrm>
            <a:off x="7415010" y="3151774"/>
            <a:ext cx="3316778" cy="1874519"/>
          </a:xfrm>
          <a:prstGeom prst="roundRect">
            <a:avLst>
              <a:gd name="adj" fmla="val 4000"/>
            </a:avLst>
          </a:prstGeom>
          <a:solidFill>
            <a:srgbClr val="E9EFF0"/>
          </a:solidFill>
          <a:ln w="12700">
            <a:solidFill>
              <a:srgbClr val="E9E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33396" y="3351865"/>
            <a:ext cx="3383280" cy="1554480"/>
          </a:xfrm>
          <a:prstGeom prst="rect">
            <a:avLst/>
          </a:prstGeom>
          <a:noFill/>
        </p:spPr>
        <p:txBody>
          <a:bodyPr wrap="square" lIns="0" tIns="0" rIns="0" bIns="0">
            <a:spAutoFit/>
          </a:bodyPr>
          <a:lstStyle/>
          <a:p>
            <a:pPr algn="l">
              <a:lnSpc>
                <a:spcPct val="115000"/>
              </a:lnSpc>
            </a:pPr>
            <a:r>
              <a:rPr sz="1350" b="0" i="0" dirty="0">
                <a:solidFill>
                  <a:srgbClr val="123D33"/>
                </a:solidFill>
                <a:latin typeface="Calibri"/>
              </a:rPr>
              <a:t>Deux </a:t>
            </a:r>
            <a:r>
              <a:rPr sz="1350" b="0" i="0" dirty="0" err="1">
                <a:solidFill>
                  <a:srgbClr val="123D33"/>
                </a:solidFill>
                <a:latin typeface="Calibri"/>
              </a:rPr>
              <a:t>façons</a:t>
            </a:r>
            <a:r>
              <a:rPr sz="1350" b="0" i="0" dirty="0">
                <a:solidFill>
                  <a:srgbClr val="123D33"/>
                </a:solidFill>
                <a:latin typeface="Calibri"/>
              </a:rPr>
              <a:t> de le </a:t>
            </a:r>
            <a:r>
              <a:rPr sz="1350" b="0" i="0" dirty="0" err="1">
                <a:solidFill>
                  <a:srgbClr val="123D33"/>
                </a:solidFill>
                <a:latin typeface="Calibri"/>
              </a:rPr>
              <a:t>calculer</a:t>
            </a:r>
            <a:endParaRPr sz="1350" b="0" i="0" dirty="0">
              <a:solidFill>
                <a:srgbClr val="123D33"/>
              </a:solidFill>
              <a:latin typeface="Calibri"/>
            </a:endParaRPr>
          </a:p>
          <a:p>
            <a:pPr algn="l">
              <a:lnSpc>
                <a:spcPct val="115000"/>
              </a:lnSpc>
            </a:pPr>
            <a:endParaRPr sz="1350" b="0" i="0" dirty="0">
              <a:solidFill>
                <a:srgbClr val="123D33"/>
              </a:solidFill>
              <a:latin typeface="Calibri"/>
            </a:endParaRPr>
          </a:p>
          <a:p>
            <a:pPr algn="l">
              <a:lnSpc>
                <a:spcPct val="115000"/>
              </a:lnSpc>
            </a:pPr>
            <a:r>
              <a:rPr sz="1350" b="0" i="0" dirty="0" err="1">
                <a:solidFill>
                  <a:srgbClr val="123D33"/>
                </a:solidFill>
                <a:latin typeface="Calibri"/>
              </a:rPr>
              <a:t>historiquement</a:t>
            </a:r>
            <a:r>
              <a:rPr sz="1350" b="0" i="0" dirty="0">
                <a:solidFill>
                  <a:srgbClr val="123D33"/>
                </a:solidFill>
                <a:latin typeface="Calibri"/>
              </a:rPr>
              <a:t>, sur la structure</a:t>
            </a:r>
          </a:p>
          <a:p>
            <a:pPr algn="l">
              <a:lnSpc>
                <a:spcPct val="115000"/>
              </a:lnSpc>
            </a:pPr>
            <a:r>
              <a:rPr sz="1350" b="0" i="0" dirty="0" err="1">
                <a:solidFill>
                  <a:srgbClr val="123D33"/>
                </a:solidFill>
                <a:latin typeface="Calibri"/>
              </a:rPr>
              <a:t>syntaxique</a:t>
            </a:r>
            <a:r>
              <a:rPr sz="1350" b="0" i="0" dirty="0">
                <a:solidFill>
                  <a:srgbClr val="123D33"/>
                </a:solidFill>
                <a:latin typeface="Calibri"/>
              </a:rPr>
              <a:t> de la phrase</a:t>
            </a:r>
          </a:p>
          <a:p>
            <a:pPr algn="l">
              <a:lnSpc>
                <a:spcPct val="115000"/>
              </a:lnSpc>
            </a:pPr>
            <a:endParaRPr sz="1350" b="0" i="0" dirty="0">
              <a:solidFill>
                <a:srgbClr val="123D33"/>
              </a:solidFill>
              <a:latin typeface="Calibri"/>
            </a:endParaRPr>
          </a:p>
          <a:p>
            <a:pPr algn="l">
              <a:lnSpc>
                <a:spcPct val="115000"/>
              </a:lnSpc>
            </a:pPr>
            <a:r>
              <a:rPr sz="1350" b="0" i="0" dirty="0" err="1">
                <a:solidFill>
                  <a:srgbClr val="123D33"/>
                </a:solidFill>
                <a:latin typeface="Calibri"/>
              </a:rPr>
              <a:t>depuis</a:t>
            </a:r>
            <a:r>
              <a:rPr sz="1350" b="0" i="0" dirty="0">
                <a:solidFill>
                  <a:srgbClr val="123D33"/>
                </a:solidFill>
                <a:latin typeface="Calibri"/>
              </a:rPr>
              <a:t> les LLM, sur les logits</a:t>
            </a:r>
          </a:p>
        </p:txBody>
      </p:sp>
      <p:sp>
        <p:nvSpPr>
          <p:cNvPr id="30" name="Rounded Rectangle 29"/>
          <p:cNvSpPr/>
          <p:nvPr/>
        </p:nvSpPr>
        <p:spPr>
          <a:xfrm>
            <a:off x="1417320" y="516636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417320" y="516636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664208" y="531266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Toute ma mission tient dans l'écart entre ces deux calculs.</a:t>
            </a:r>
          </a:p>
        </p:txBody>
      </p:sp>
      <p:sp>
        <p:nvSpPr>
          <p:cNvPr id="33" name="TextBox 32"/>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4</a:t>
            </a:r>
          </a:p>
        </p:txBody>
      </p:sp>
      <p:pic>
        <p:nvPicPr>
          <p:cNvPr id="34" name="Image 33">
            <a:extLst>
              <a:ext uri="{FF2B5EF4-FFF2-40B4-BE49-F238E27FC236}">
                <a16:creationId xmlns:a16="http://schemas.microsoft.com/office/drawing/2014/main" id="{09F83DD5-D20D-4299-B7FC-18FA867B8B7F}"/>
              </a:ext>
            </a:extLst>
          </p:cNvPr>
          <p:cNvPicPr>
            <a:picLocks noChangeAspect="1"/>
          </p:cNvPicPr>
          <p:nvPr/>
        </p:nvPicPr>
        <p:blipFill>
          <a:blip r:embed="rId4"/>
          <a:stretch>
            <a:fillRect/>
          </a:stretch>
        </p:blipFill>
        <p:spPr>
          <a:xfrm>
            <a:off x="7439920" y="1766628"/>
            <a:ext cx="4170232" cy="12964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L'ÉTAT DE L'ART</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Contexte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graphicFrame>
        <p:nvGraphicFramePr>
          <p:cNvPr id="23" name="Table 22"/>
          <p:cNvGraphicFramePr>
            <a:graphicFrameLocks noGrp="1"/>
          </p:cNvGraphicFramePr>
          <p:nvPr/>
        </p:nvGraphicFramePr>
        <p:xfrm>
          <a:off x="1737360" y="1737360"/>
          <a:ext cx="8778240" cy="31089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18160">
                <a:tc>
                  <a:txBody>
                    <a:bodyPr/>
                    <a:lstStyle/>
                    <a:p>
                      <a:pPr algn="ctr"/>
                      <a:endParaRPr/>
                    </a:p>
                  </a:txBody>
                  <a:tcPr anchor="ctr">
                    <a:solidFill>
                      <a:srgbClr val="1B4A56"/>
                    </a:solidFill>
                  </a:tcPr>
                </a:tc>
                <a:tc>
                  <a:txBody>
                    <a:bodyPr/>
                    <a:lstStyle/>
                    <a:p>
                      <a:pPr algn="ctr"/>
                      <a:r>
                        <a:rPr sz="1400" b="1">
                          <a:solidFill>
                            <a:srgbClr val="FFFFFF"/>
                          </a:solidFill>
                          <a:latin typeface="Calibri"/>
                        </a:rPr>
                        <a:t>Travaux</a:t>
                      </a:r>
                    </a:p>
                  </a:txBody>
                  <a:tcPr anchor="ctr">
                    <a:solidFill>
                      <a:srgbClr val="1B4A56"/>
                    </a:solidFill>
                  </a:tcPr>
                </a:tc>
                <a:tc>
                  <a:txBody>
                    <a:bodyPr/>
                    <a:lstStyle/>
                    <a:p>
                      <a:pPr algn="ctr"/>
                      <a:r>
                        <a:rPr sz="1400" b="1">
                          <a:solidFill>
                            <a:srgbClr val="FFFFFF"/>
                          </a:solidFill>
                          <a:latin typeface="Calibri"/>
                        </a:rPr>
                        <a:t>Apport</a:t>
                      </a:r>
                    </a:p>
                  </a:txBody>
                  <a:tcPr anchor="ctr">
                    <a:solidFill>
                      <a:srgbClr val="1B4A56"/>
                    </a:solidFill>
                  </a:tcPr>
                </a:tc>
                <a:extLst>
                  <a:ext uri="{0D108BD9-81ED-4DB2-BD59-A6C34878D82A}">
                    <a16:rowId xmlns:a16="http://schemas.microsoft.com/office/drawing/2014/main" val="10000"/>
                  </a:ext>
                </a:extLst>
              </a:tr>
              <a:tr h="518160">
                <a:tc>
                  <a:txBody>
                    <a:bodyPr/>
                    <a:lstStyle/>
                    <a:p>
                      <a:pPr algn="l"/>
                      <a:r>
                        <a:rPr sz="1400">
                          <a:solidFill>
                            <a:srgbClr val="222B33"/>
                          </a:solidFill>
                          <a:latin typeface="Calibri"/>
                        </a:rPr>
                        <a:t>Théorie</a:t>
                      </a:r>
                    </a:p>
                  </a:txBody>
                  <a:tcPr anchor="ctr">
                    <a:solidFill>
                      <a:srgbClr val="E9EFF0"/>
                    </a:solidFill>
                  </a:tcPr>
                </a:tc>
                <a:tc>
                  <a:txBody>
                    <a:bodyPr/>
                    <a:lstStyle/>
                    <a:p>
                      <a:pPr algn="ctr"/>
                      <a:r>
                        <a:rPr sz="1400">
                          <a:solidFill>
                            <a:srgbClr val="222B33"/>
                          </a:solidFill>
                          <a:latin typeface="Calibri"/>
                        </a:rPr>
                        <a:t>Hale (2001), Levy (2008)</a:t>
                      </a:r>
                    </a:p>
                  </a:txBody>
                  <a:tcPr anchor="ctr">
                    <a:solidFill>
                      <a:srgbClr val="E9EFF0"/>
                    </a:solidFill>
                  </a:tcPr>
                </a:tc>
                <a:tc>
                  <a:txBody>
                    <a:bodyPr/>
                    <a:lstStyle/>
                    <a:p>
                      <a:pPr algn="ctr"/>
                      <a:r>
                        <a:rPr sz="1400">
                          <a:solidFill>
                            <a:srgbClr val="222B33"/>
                          </a:solidFill>
                          <a:latin typeface="Calibri"/>
                        </a:rPr>
                        <a:t>La surprise a un sens cognitif</a:t>
                      </a:r>
                    </a:p>
                  </a:txBody>
                  <a:tcPr anchor="ctr">
                    <a:solidFill>
                      <a:srgbClr val="E9EFF0"/>
                    </a:solidFill>
                  </a:tcPr>
                </a:tc>
                <a:extLst>
                  <a:ext uri="{0D108BD9-81ED-4DB2-BD59-A6C34878D82A}">
                    <a16:rowId xmlns:a16="http://schemas.microsoft.com/office/drawing/2014/main" val="10001"/>
                  </a:ext>
                </a:extLst>
              </a:tr>
              <a:tr h="518160">
                <a:tc>
                  <a:txBody>
                    <a:bodyPr/>
                    <a:lstStyle/>
                    <a:p>
                      <a:pPr algn="l"/>
                      <a:r>
                        <a:rPr sz="1400">
                          <a:solidFill>
                            <a:srgbClr val="222B33"/>
                          </a:solidFill>
                          <a:latin typeface="Calibri"/>
                        </a:rPr>
                        <a:t>Calcul</a:t>
                      </a:r>
                    </a:p>
                  </a:txBody>
                  <a:tcPr anchor="ctr">
                    <a:solidFill>
                      <a:srgbClr val="FFFFFF"/>
                    </a:solidFill>
                  </a:tcPr>
                </a:tc>
                <a:tc>
                  <a:txBody>
                    <a:bodyPr/>
                    <a:lstStyle/>
                    <a:p>
                      <a:pPr algn="ctr"/>
                      <a:r>
                        <a:rPr sz="1400">
                          <a:solidFill>
                            <a:srgbClr val="222B33"/>
                          </a:solidFill>
                          <a:latin typeface="Calibri"/>
                        </a:rPr>
                        <a:t>Jelinek &amp; Lafferty (1991), Stolcke (1995)</a:t>
                      </a:r>
                    </a:p>
                  </a:txBody>
                  <a:tcPr anchor="ctr">
                    <a:solidFill>
                      <a:srgbClr val="FFFFFF"/>
                    </a:solidFill>
                  </a:tcPr>
                </a:tc>
                <a:tc>
                  <a:txBody>
                    <a:bodyPr/>
                    <a:lstStyle/>
                    <a:p>
                      <a:pPr algn="ctr"/>
                      <a:r>
                        <a:rPr sz="1400">
                          <a:solidFill>
                            <a:srgbClr val="222B33"/>
                          </a:solidFill>
                          <a:latin typeface="Calibri"/>
                        </a:rPr>
                        <a:t>Probabilités de préfixe</a:t>
                      </a:r>
                    </a:p>
                  </a:txBody>
                  <a:tcPr anchor="ctr">
                    <a:solidFill>
                      <a:srgbClr val="FFFFFF"/>
                    </a:solidFill>
                  </a:tcPr>
                </a:tc>
                <a:extLst>
                  <a:ext uri="{0D108BD9-81ED-4DB2-BD59-A6C34878D82A}">
                    <a16:rowId xmlns:a16="http://schemas.microsoft.com/office/drawing/2014/main" val="10002"/>
                  </a:ext>
                </a:extLst>
              </a:tr>
              <a:tr h="518160">
                <a:tc>
                  <a:txBody>
                    <a:bodyPr/>
                    <a:lstStyle/>
                    <a:p>
                      <a:pPr algn="l"/>
                      <a:r>
                        <a:rPr sz="1400">
                          <a:solidFill>
                            <a:srgbClr val="222B33"/>
                          </a:solidFill>
                          <a:latin typeface="Calibri"/>
                        </a:rPr>
                        <a:t>Durée des mots</a:t>
                      </a:r>
                    </a:p>
                  </a:txBody>
                  <a:tcPr anchor="ctr">
                    <a:solidFill>
                      <a:srgbClr val="E9EFF0"/>
                    </a:solidFill>
                  </a:tcPr>
                </a:tc>
                <a:tc>
                  <a:txBody>
                    <a:bodyPr/>
                    <a:lstStyle/>
                    <a:p>
                      <a:pPr algn="ctr"/>
                      <a:r>
                        <a:rPr sz="1400">
                          <a:solidFill>
                            <a:srgbClr val="222B33"/>
                          </a:solidFill>
                          <a:latin typeface="Calibri"/>
                        </a:rPr>
                        <a:t>Aylett &amp; Turk (2004), Bell et al. (2009)</a:t>
                      </a:r>
                    </a:p>
                  </a:txBody>
                  <a:tcPr anchor="ctr">
                    <a:solidFill>
                      <a:srgbClr val="E9EFF0"/>
                    </a:solidFill>
                  </a:tcPr>
                </a:tc>
                <a:tc>
                  <a:txBody>
                    <a:bodyPr/>
                    <a:lstStyle/>
                    <a:p>
                      <a:pPr algn="ctr"/>
                      <a:r>
                        <a:rPr sz="1400">
                          <a:solidFill>
                            <a:srgbClr val="222B33"/>
                          </a:solidFill>
                          <a:latin typeface="Calibri"/>
                        </a:rPr>
                        <a:t>Les facteurs à neutraliser</a:t>
                      </a:r>
                    </a:p>
                  </a:txBody>
                  <a:tcPr anchor="ctr">
                    <a:solidFill>
                      <a:srgbClr val="E9EFF0"/>
                    </a:solidFill>
                  </a:tcPr>
                </a:tc>
                <a:extLst>
                  <a:ext uri="{0D108BD9-81ED-4DB2-BD59-A6C34878D82A}">
                    <a16:rowId xmlns:a16="http://schemas.microsoft.com/office/drawing/2014/main" val="10003"/>
                  </a:ext>
                </a:extLst>
              </a:tr>
              <a:tr h="518160">
                <a:tc>
                  <a:txBody>
                    <a:bodyPr/>
                    <a:lstStyle/>
                    <a:p>
                      <a:pPr algn="l"/>
                      <a:r>
                        <a:rPr sz="1400">
                          <a:solidFill>
                            <a:srgbClr val="222B33"/>
                          </a:solidFill>
                          <a:latin typeface="Calibri"/>
                        </a:rPr>
                        <a:t>Référence</a:t>
                      </a:r>
                    </a:p>
                  </a:txBody>
                  <a:tcPr anchor="ctr">
                    <a:solidFill>
                      <a:srgbClr val="FFFFFF"/>
                    </a:solidFill>
                  </a:tcPr>
                </a:tc>
                <a:tc>
                  <a:txBody>
                    <a:bodyPr/>
                    <a:lstStyle/>
                    <a:p>
                      <a:pPr algn="ctr"/>
                      <a:r>
                        <a:rPr sz="1400">
                          <a:solidFill>
                            <a:srgbClr val="222B33"/>
                          </a:solidFill>
                          <a:latin typeface="Calibri"/>
                        </a:rPr>
                        <a:t>Demberg et al. (2012)</a:t>
                      </a:r>
                    </a:p>
                  </a:txBody>
                  <a:tcPr anchor="ctr">
                    <a:solidFill>
                      <a:srgbClr val="FFFFFF"/>
                    </a:solidFill>
                  </a:tcPr>
                </a:tc>
                <a:tc>
                  <a:txBody>
                    <a:bodyPr/>
                    <a:lstStyle/>
                    <a:p>
                      <a:pPr algn="ctr"/>
                      <a:r>
                        <a:rPr sz="1400">
                          <a:solidFill>
                            <a:srgbClr val="222B33"/>
                          </a:solidFill>
                          <a:latin typeface="Calibri"/>
                        </a:rPr>
                        <a:t>7 ms par unité de surprise, corpus AMI</a:t>
                      </a:r>
                    </a:p>
                  </a:txBody>
                  <a:tcPr anchor="ctr">
                    <a:solidFill>
                      <a:srgbClr val="FFFFFF"/>
                    </a:solidFill>
                  </a:tcPr>
                </a:tc>
                <a:extLst>
                  <a:ext uri="{0D108BD9-81ED-4DB2-BD59-A6C34878D82A}">
                    <a16:rowId xmlns:a16="http://schemas.microsoft.com/office/drawing/2014/main" val="10004"/>
                  </a:ext>
                </a:extLst>
              </a:tr>
              <a:tr h="518160">
                <a:tc>
                  <a:txBody>
                    <a:bodyPr/>
                    <a:lstStyle/>
                    <a:p>
                      <a:pPr algn="l"/>
                      <a:r>
                        <a:rPr sz="1400">
                          <a:solidFill>
                            <a:srgbClr val="222B33"/>
                          </a:solidFill>
                          <a:latin typeface="Calibri"/>
                        </a:rPr>
                        <a:t>Neuronal</a:t>
                      </a:r>
                    </a:p>
                  </a:txBody>
                  <a:tcPr anchor="ctr">
                    <a:solidFill>
                      <a:srgbClr val="E9EFF0"/>
                    </a:solidFill>
                  </a:tcPr>
                </a:tc>
                <a:tc>
                  <a:txBody>
                    <a:bodyPr/>
                    <a:lstStyle/>
                    <a:p>
                      <a:pPr algn="ctr"/>
                      <a:r>
                        <a:rPr sz="1400">
                          <a:solidFill>
                            <a:srgbClr val="222B33"/>
                          </a:solidFill>
                          <a:latin typeface="Calibri"/>
                        </a:rPr>
                        <a:t>Radford et al. (2019)</a:t>
                      </a:r>
                    </a:p>
                  </a:txBody>
                  <a:tcPr anchor="ctr">
                    <a:solidFill>
                      <a:srgbClr val="E9EFF0"/>
                    </a:solidFill>
                  </a:tcPr>
                </a:tc>
                <a:tc>
                  <a:txBody>
                    <a:bodyPr/>
                    <a:lstStyle/>
                    <a:p>
                      <a:pPr algn="ctr"/>
                      <a:r>
                        <a:rPr sz="1400">
                          <a:solidFill>
                            <a:srgbClr val="222B33"/>
                          </a:solidFill>
                          <a:latin typeface="Calibri"/>
                        </a:rPr>
                        <a:t>Logits : syntaxe et sémantique mêlées</a:t>
                      </a:r>
                    </a:p>
                  </a:txBody>
                  <a:tcPr anchor="ctr">
                    <a:solidFill>
                      <a:srgbClr val="E9EFF0"/>
                    </a:solidFill>
                  </a:tcPr>
                </a:tc>
                <a:extLst>
                  <a:ext uri="{0D108BD9-81ED-4DB2-BD59-A6C34878D82A}">
                    <a16:rowId xmlns:a16="http://schemas.microsoft.com/office/drawing/2014/main" val="10005"/>
                  </a:ext>
                </a:extLst>
              </a:tr>
            </a:tbl>
          </a:graphicData>
        </a:graphic>
      </p:graphicFrame>
      <p:sp>
        <p:nvSpPr>
          <p:cNvPr id="24" name="Rounded Rectangle 23"/>
          <p:cNvSpPr/>
          <p:nvPr/>
        </p:nvSpPr>
        <p:spPr>
          <a:xfrm>
            <a:off x="1417320" y="521208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417320" y="521208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64208" y="535838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La limite des LLM n'est pas leur performance : on ne peut pas isoler ce qui, dans leur surprise, est grammatical.</a:t>
            </a:r>
          </a:p>
        </p:txBody>
      </p:sp>
      <p:sp>
        <p:nvSpPr>
          <p:cNvPr id="27" name="TextBox 26"/>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LE DÉCLENCHEUR : UN ÉCHEC</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Mai et juin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600200"/>
            <a:ext cx="5120640" cy="9601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91640" y="1828800"/>
            <a:ext cx="4572000" cy="640080"/>
          </a:xfrm>
          <a:prstGeom prst="rect">
            <a:avLst/>
          </a:prstGeom>
          <a:noFill/>
        </p:spPr>
        <p:txBody>
          <a:bodyPr wrap="square" lIns="0" tIns="0" rIns="0" bIns="0">
            <a:spAutoFit/>
          </a:bodyPr>
          <a:lstStyle/>
          <a:p>
            <a:pPr algn="l">
              <a:lnSpc>
                <a:spcPct val="120000"/>
              </a:lnSpc>
            </a:pPr>
            <a:r>
              <a:rPr sz="1600" b="1" i="0">
                <a:solidFill>
                  <a:srgbClr val="B55D29"/>
                </a:solidFill>
                <a:latin typeface="Calibri"/>
              </a:rPr>
              <a:t>La surprise LLM n'expliquait pas</a:t>
            </a:r>
          </a:p>
          <a:p>
            <a:pPr algn="l">
              <a:lnSpc>
                <a:spcPct val="120000"/>
              </a:lnSpc>
            </a:pPr>
            <a:r>
              <a:rPr sz="1600" b="1" i="0">
                <a:solidFill>
                  <a:srgbClr val="B55D29"/>
                </a:solidFill>
                <a:latin typeface="Calibri"/>
              </a:rPr>
              <a:t>les signaux EEG du laboratoire.</a:t>
            </a:r>
          </a:p>
        </p:txBody>
      </p:sp>
      <p:sp>
        <p:nvSpPr>
          <p:cNvPr id="25" name="Rounded Rectangle 24"/>
          <p:cNvSpPr/>
          <p:nvPr/>
        </p:nvSpPr>
        <p:spPr>
          <a:xfrm>
            <a:off x="1417320" y="2971800"/>
            <a:ext cx="5120640" cy="73152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54480" y="3172968"/>
            <a:ext cx="4846320" cy="365760"/>
          </a:xfrm>
          <a:prstGeom prst="rect">
            <a:avLst/>
          </a:prstGeom>
          <a:noFill/>
        </p:spPr>
        <p:txBody>
          <a:bodyPr wrap="square" lIns="0" tIns="0" rIns="0" bIns="0">
            <a:spAutoFit/>
          </a:bodyPr>
          <a:lstStyle/>
          <a:p>
            <a:pPr algn="ctr">
              <a:lnSpc>
                <a:spcPct val="120000"/>
              </a:lnSpc>
            </a:pPr>
            <a:r>
              <a:rPr sz="1700" b="1" i="0">
                <a:solidFill>
                  <a:srgbClr val="123D33"/>
                </a:solidFill>
                <a:latin typeface="Calibri"/>
              </a:rPr>
              <a:t>Que mesure exactement cette surprise ?</a:t>
            </a:r>
          </a:p>
        </p:txBody>
      </p:sp>
      <p:sp>
        <p:nvSpPr>
          <p:cNvPr id="27" name="TextBox 26"/>
          <p:cNvSpPr txBox="1"/>
          <p:nvPr/>
        </p:nvSpPr>
        <p:spPr>
          <a:xfrm>
            <a:off x="1417320" y="4069080"/>
            <a:ext cx="5120640" cy="839653"/>
          </a:xfrm>
          <a:prstGeom prst="rect">
            <a:avLst/>
          </a:prstGeom>
          <a:noFill/>
        </p:spPr>
        <p:txBody>
          <a:bodyPr wrap="square" lIns="0" tIns="0" rIns="0" bIns="0">
            <a:spAutoFit/>
          </a:bodyPr>
          <a:lstStyle/>
          <a:p>
            <a:pPr algn="l">
              <a:lnSpc>
                <a:spcPct val="120000"/>
              </a:lnSpc>
            </a:pPr>
            <a:r>
              <a:rPr sz="1550" b="0" i="0" dirty="0" err="1">
                <a:solidFill>
                  <a:srgbClr val="222B33"/>
                </a:solidFill>
                <a:latin typeface="Calibri"/>
              </a:rPr>
              <a:t>Décision</a:t>
            </a:r>
            <a:r>
              <a:rPr sz="1550" b="0" i="0" dirty="0">
                <a:solidFill>
                  <a:srgbClr val="222B33"/>
                </a:solidFill>
                <a:latin typeface="Calibri"/>
              </a:rPr>
              <a:t> : </a:t>
            </a:r>
            <a:r>
              <a:rPr sz="1550" b="0" i="0" dirty="0" err="1">
                <a:solidFill>
                  <a:srgbClr val="222B33"/>
                </a:solidFill>
                <a:latin typeface="Calibri"/>
              </a:rPr>
              <a:t>décomposer</a:t>
            </a:r>
            <a:r>
              <a:rPr sz="1550" b="0" i="0" dirty="0">
                <a:solidFill>
                  <a:srgbClr val="222B33"/>
                </a:solidFill>
                <a:latin typeface="Calibri"/>
              </a:rPr>
              <a:t>,</a:t>
            </a:r>
          </a:p>
          <a:p>
            <a:pPr algn="l">
              <a:lnSpc>
                <a:spcPct val="120000"/>
              </a:lnSpc>
            </a:pPr>
            <a:r>
              <a:rPr sz="1550" b="0" i="0" dirty="0">
                <a:solidFill>
                  <a:srgbClr val="222B33"/>
                </a:solidFill>
                <a:latin typeface="Calibri"/>
              </a:rPr>
              <a:t>et commencer par la </a:t>
            </a:r>
            <a:r>
              <a:rPr sz="1550" b="0" i="0" dirty="0" err="1">
                <a:solidFill>
                  <a:srgbClr val="222B33"/>
                </a:solidFill>
                <a:latin typeface="Calibri"/>
              </a:rPr>
              <a:t>syntaxe</a:t>
            </a:r>
            <a:r>
              <a:rPr sz="1550" b="0" i="0" dirty="0">
                <a:solidFill>
                  <a:srgbClr val="222B33"/>
                </a:solidFill>
                <a:latin typeface="Calibri"/>
              </a:rPr>
              <a:t>,</a:t>
            </a:r>
          </a:p>
          <a:p>
            <a:pPr algn="l">
              <a:lnSpc>
                <a:spcPct val="120000"/>
              </a:lnSpc>
            </a:pPr>
            <a:r>
              <a:rPr lang="fr-FR" sz="1550" dirty="0">
                <a:solidFill>
                  <a:srgbClr val="222B33"/>
                </a:solidFill>
                <a:latin typeface="Calibri"/>
              </a:rPr>
              <a:t>u</a:t>
            </a:r>
            <a:r>
              <a:rPr lang="fr-FR" sz="1550" b="0" i="0" dirty="0">
                <a:solidFill>
                  <a:srgbClr val="222B33"/>
                </a:solidFill>
                <a:latin typeface="Calibri"/>
              </a:rPr>
              <a:t>ne </a:t>
            </a:r>
            <a:r>
              <a:rPr sz="1550" b="0" i="0" dirty="0" err="1">
                <a:solidFill>
                  <a:srgbClr val="222B33"/>
                </a:solidFill>
                <a:latin typeface="Calibri"/>
              </a:rPr>
              <a:t>composante</a:t>
            </a:r>
            <a:r>
              <a:rPr sz="1550" b="0" i="0" dirty="0">
                <a:solidFill>
                  <a:srgbClr val="222B33"/>
                </a:solidFill>
                <a:latin typeface="Calibri"/>
              </a:rPr>
              <a:t> </a:t>
            </a:r>
            <a:r>
              <a:rPr sz="1550" b="0" i="0" dirty="0" err="1">
                <a:solidFill>
                  <a:srgbClr val="222B33"/>
                </a:solidFill>
                <a:latin typeface="Calibri"/>
              </a:rPr>
              <a:t>interprétable</a:t>
            </a:r>
            <a:r>
              <a:rPr sz="1550" b="0" i="0" dirty="0">
                <a:solidFill>
                  <a:srgbClr val="222B33"/>
                </a:solidFill>
                <a:latin typeface="Calibri"/>
              </a:rPr>
              <a:t>.</a:t>
            </a:r>
          </a:p>
        </p:txBody>
      </p:sp>
      <p:sp>
        <p:nvSpPr>
          <p:cNvPr id="29" name="Rounded Rectangle 28"/>
          <p:cNvSpPr/>
          <p:nvPr/>
        </p:nvSpPr>
        <p:spPr>
          <a:xfrm>
            <a:off x="1417320" y="5596128"/>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17320" y="5596128"/>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64208" y="5742432"/>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Un indicateur agrégé qui échoue ne se remplace pas, il se décompose.</a:t>
            </a:r>
          </a:p>
        </p:txBody>
      </p:sp>
      <p:sp>
        <p:nvSpPr>
          <p:cNvPr id="32" name="TextBox 31"/>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6</a:t>
            </a:r>
          </a:p>
        </p:txBody>
      </p:sp>
      <p:pic>
        <p:nvPicPr>
          <p:cNvPr id="34" name="Image 33">
            <a:extLst>
              <a:ext uri="{FF2B5EF4-FFF2-40B4-BE49-F238E27FC236}">
                <a16:creationId xmlns:a16="http://schemas.microsoft.com/office/drawing/2014/main" id="{7F5DDB47-F41F-4A03-8B7D-D277F9FE8A1C}"/>
              </a:ext>
            </a:extLst>
          </p:cNvPr>
          <p:cNvPicPr>
            <a:picLocks noChangeAspect="1"/>
          </p:cNvPicPr>
          <p:nvPr/>
        </p:nvPicPr>
        <p:blipFill>
          <a:blip r:embed="rId4"/>
          <a:stretch>
            <a:fillRect/>
          </a:stretch>
        </p:blipFill>
        <p:spPr>
          <a:xfrm>
            <a:off x="7185296" y="1930215"/>
            <a:ext cx="4198984" cy="27205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LA PROBLÉMATIQUE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La question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600200"/>
            <a:ext cx="5486400" cy="14173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91640" y="1828800"/>
            <a:ext cx="4937760" cy="1097280"/>
          </a:xfrm>
          <a:prstGeom prst="rect">
            <a:avLst/>
          </a:prstGeom>
          <a:noFill/>
        </p:spPr>
        <p:txBody>
          <a:bodyPr wrap="square" lIns="0" tIns="0" rIns="0" bIns="0">
            <a:spAutoFit/>
          </a:bodyPr>
          <a:lstStyle/>
          <a:p>
            <a:pPr algn="l">
              <a:lnSpc>
                <a:spcPct val="120000"/>
              </a:lnSpc>
            </a:pPr>
            <a:r>
              <a:rPr sz="1550" b="0" i="0">
                <a:solidFill>
                  <a:srgbClr val="222B33"/>
                </a:solidFill>
                <a:latin typeface="Calibri"/>
              </a:rPr>
              <a:t>« La surprise LLM prédit-elle mieux</a:t>
            </a:r>
          </a:p>
          <a:p>
            <a:pPr algn="l">
              <a:lnSpc>
                <a:spcPct val="120000"/>
              </a:lnSpc>
            </a:pPr>
            <a:r>
              <a:rPr sz="1550" b="0" i="0">
                <a:solidFill>
                  <a:srgbClr val="222B33"/>
                </a:solidFill>
                <a:latin typeface="Calibri"/>
              </a:rPr>
              <a:t>la durée que la surprise syntaxique ? »</a:t>
            </a:r>
          </a:p>
          <a:p>
            <a:pPr algn="l">
              <a:lnSpc>
                <a:spcPct val="120000"/>
              </a:lnSpc>
            </a:pPr>
            <a:r>
              <a:rPr sz="1550" b="0" i="0">
                <a:solidFill>
                  <a:srgbClr val="222B33"/>
                </a:solidFill>
                <a:latin typeface="Calibri"/>
              </a:rPr>
              <a:t>Oui. Mais la réponse est trompeuse.</a:t>
            </a:r>
          </a:p>
        </p:txBody>
      </p:sp>
      <p:pic>
        <p:nvPicPr>
          <p:cNvPr id="25" name="Picture 24" descr="t_idee.png"/>
          <p:cNvPicPr>
            <a:picLocks noChangeAspect="1"/>
          </p:cNvPicPr>
          <p:nvPr/>
        </p:nvPicPr>
        <p:blipFill>
          <a:blip r:embed="rId4"/>
          <a:stretch>
            <a:fillRect/>
          </a:stretch>
        </p:blipFill>
        <p:spPr>
          <a:xfrm>
            <a:off x="8321040" y="1691640"/>
            <a:ext cx="1691640" cy="1691640"/>
          </a:xfrm>
          <a:prstGeom prst="rect">
            <a:avLst/>
          </a:prstGeom>
        </p:spPr>
      </p:pic>
      <p:sp>
        <p:nvSpPr>
          <p:cNvPr id="26" name="TextBox 25"/>
          <p:cNvSpPr txBox="1"/>
          <p:nvPr/>
        </p:nvSpPr>
        <p:spPr>
          <a:xfrm>
            <a:off x="1417320" y="3291840"/>
            <a:ext cx="5852160" cy="822960"/>
          </a:xfrm>
          <a:prstGeom prst="rect">
            <a:avLst/>
          </a:prstGeom>
          <a:noFill/>
        </p:spPr>
        <p:txBody>
          <a:bodyPr wrap="square" lIns="0" tIns="0" rIns="0" bIns="0">
            <a:spAutoFit/>
          </a:bodyPr>
          <a:lstStyle/>
          <a:p>
            <a:pPr algn="l">
              <a:lnSpc>
                <a:spcPct val="120000"/>
              </a:lnSpc>
            </a:pPr>
            <a:r>
              <a:rPr sz="1550" b="0" i="0">
                <a:solidFill>
                  <a:srgbClr val="222B33"/>
                </a:solidFill>
                <a:latin typeface="Calibri"/>
              </a:rPr>
              <a:t>Surprise LLM et fréquence : r = −0,75.</a:t>
            </a:r>
          </a:p>
          <a:p>
            <a:pPr algn="l">
              <a:lnSpc>
                <a:spcPct val="120000"/>
              </a:lnSpc>
            </a:pPr>
            <a:r>
              <a:rPr sz="1550" b="0" i="0">
                <a:solidFill>
                  <a:srgbClr val="222B33"/>
                </a:solidFill>
                <a:latin typeface="Calibri"/>
              </a:rPr>
              <a:t>Or la fréquence détermine déjà la durée.</a:t>
            </a:r>
          </a:p>
        </p:txBody>
      </p:sp>
      <p:sp>
        <p:nvSpPr>
          <p:cNvPr id="27" name="Rounded Rectangle 26"/>
          <p:cNvSpPr/>
          <p:nvPr/>
        </p:nvSpPr>
        <p:spPr>
          <a:xfrm>
            <a:off x="1417320" y="4434840"/>
            <a:ext cx="10254082" cy="1051560"/>
          </a:xfrm>
          <a:prstGeom prst="roundRect">
            <a:avLst>
              <a:gd name="adj" fmla="val 4000"/>
            </a:avLst>
          </a:prstGeom>
          <a:solidFill>
            <a:srgbClr val="E9EFF0"/>
          </a:solidFill>
          <a:ln w="12700">
            <a:solidFill>
              <a:srgbClr val="E9E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91640" y="4663440"/>
            <a:ext cx="9705442" cy="8229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Une fois les déterminants connus de la durée neutralisés,</a:t>
            </a:r>
          </a:p>
          <a:p>
            <a:pPr algn="l">
              <a:lnSpc>
                <a:spcPct val="120000"/>
              </a:lnSpc>
            </a:pPr>
            <a:r>
              <a:rPr sz="1600" b="1" i="0">
                <a:solidFill>
                  <a:srgbClr val="123D33"/>
                </a:solidFill>
                <a:latin typeface="Calibri"/>
              </a:rPr>
              <a:t>quelle surprise conserve un effet PROPRE, et par quel mécanisme ?</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MES TROIS HYPOTHÈSES</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La question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737360" y="1691640"/>
            <a:ext cx="8778240" cy="9601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965960" y="1975104"/>
            <a:ext cx="566928" cy="384048"/>
          </a:xfrm>
          <a:prstGeom prst="roundRect">
            <a:avLst>
              <a:gd name="adj" fmla="val 30000"/>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H1</a:t>
            </a:r>
          </a:p>
        </p:txBody>
      </p:sp>
      <p:sp>
        <p:nvSpPr>
          <p:cNvPr id="25" name="TextBox 24"/>
          <p:cNvSpPr txBox="1"/>
          <p:nvPr/>
        </p:nvSpPr>
        <p:spPr>
          <a:xfrm>
            <a:off x="2724912" y="1874520"/>
            <a:ext cx="7498079"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Un effet propre survit aux contrôles.</a:t>
            </a:r>
          </a:p>
        </p:txBody>
      </p:sp>
      <p:sp>
        <p:nvSpPr>
          <p:cNvPr id="26" name="TextBox 25"/>
          <p:cNvSpPr txBox="1"/>
          <p:nvPr/>
        </p:nvSpPr>
        <p:spPr>
          <a:xfrm>
            <a:off x="2724912" y="2221992"/>
            <a:ext cx="7498079" cy="320040"/>
          </a:xfrm>
          <a:prstGeom prst="rect">
            <a:avLst/>
          </a:prstGeom>
          <a:noFill/>
        </p:spPr>
        <p:txBody>
          <a:bodyPr wrap="square" lIns="0" tIns="0" rIns="0" bIns="0">
            <a:spAutoFit/>
          </a:bodyPr>
          <a:lstStyle/>
          <a:p>
            <a:pPr algn="l">
              <a:lnSpc>
                <a:spcPct val="120000"/>
              </a:lnSpc>
            </a:pPr>
            <a:r>
              <a:rPr sz="1350" b="0" i="0">
                <a:solidFill>
                  <a:srgbClr val="5B6670"/>
                </a:solidFill>
                <a:latin typeface="Calibri"/>
              </a:rPr>
              <a:t>longueur, fréquence, classe du mot, débit</a:t>
            </a:r>
          </a:p>
        </p:txBody>
      </p:sp>
      <p:sp>
        <p:nvSpPr>
          <p:cNvPr id="27" name="Rounded Rectangle 26"/>
          <p:cNvSpPr/>
          <p:nvPr/>
        </p:nvSpPr>
        <p:spPr>
          <a:xfrm>
            <a:off x="1737360" y="2880360"/>
            <a:ext cx="8778240" cy="9601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65960" y="3163824"/>
            <a:ext cx="566928" cy="384048"/>
          </a:xfrm>
          <a:prstGeom prst="roundRect">
            <a:avLst>
              <a:gd name="adj" fmla="val 30000"/>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H2</a:t>
            </a:r>
          </a:p>
        </p:txBody>
      </p:sp>
      <p:sp>
        <p:nvSpPr>
          <p:cNvPr id="29" name="TextBox 28"/>
          <p:cNvSpPr txBox="1"/>
          <p:nvPr/>
        </p:nvSpPr>
        <p:spPr>
          <a:xfrm>
            <a:off x="2724912" y="3063240"/>
            <a:ext cx="7498079"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Les deux surprises ne mesurent pas la même chose.</a:t>
            </a:r>
          </a:p>
        </p:txBody>
      </p:sp>
      <p:sp>
        <p:nvSpPr>
          <p:cNvPr id="30" name="TextBox 29"/>
          <p:cNvSpPr txBox="1"/>
          <p:nvPr/>
        </p:nvSpPr>
        <p:spPr>
          <a:xfrm>
            <a:off x="2724912" y="3410712"/>
            <a:ext cx="7498079" cy="320040"/>
          </a:xfrm>
          <a:prstGeom prst="rect">
            <a:avLst/>
          </a:prstGeom>
          <a:noFill/>
        </p:spPr>
        <p:txBody>
          <a:bodyPr wrap="square" lIns="0" tIns="0" rIns="0" bIns="0">
            <a:spAutoFit/>
          </a:bodyPr>
          <a:lstStyle/>
          <a:p>
            <a:pPr algn="l">
              <a:lnSpc>
                <a:spcPct val="120000"/>
              </a:lnSpc>
            </a:pPr>
            <a:r>
              <a:rPr sz="1350" b="0" i="0">
                <a:solidFill>
                  <a:srgbClr val="5B6670"/>
                </a:solidFill>
                <a:latin typeface="Calibri"/>
              </a:rPr>
              <a:t>le LLM réencode largement la fréquence</a:t>
            </a:r>
          </a:p>
        </p:txBody>
      </p:sp>
      <p:sp>
        <p:nvSpPr>
          <p:cNvPr id="31" name="Rounded Rectangle 30"/>
          <p:cNvSpPr/>
          <p:nvPr/>
        </p:nvSpPr>
        <p:spPr>
          <a:xfrm>
            <a:off x="1737360" y="4069080"/>
            <a:ext cx="8778240" cy="9601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965960" y="4352544"/>
            <a:ext cx="566928" cy="384048"/>
          </a:xfrm>
          <a:prstGeom prst="roundRect">
            <a:avLst>
              <a:gd name="adj" fmla="val 30000"/>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H3</a:t>
            </a:r>
          </a:p>
        </p:txBody>
      </p:sp>
      <p:sp>
        <p:nvSpPr>
          <p:cNvPr id="33" name="TextBox 32"/>
          <p:cNvSpPr txBox="1"/>
          <p:nvPr/>
        </p:nvSpPr>
        <p:spPr>
          <a:xfrm>
            <a:off x="2724912" y="4251960"/>
            <a:ext cx="7498079"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Un effet réel tient sur deux styles de parole.</a:t>
            </a:r>
          </a:p>
        </p:txBody>
      </p:sp>
      <p:sp>
        <p:nvSpPr>
          <p:cNvPr id="34" name="TextBox 33"/>
          <p:cNvSpPr txBox="1"/>
          <p:nvPr/>
        </p:nvSpPr>
        <p:spPr>
          <a:xfrm>
            <a:off x="2724912" y="4599432"/>
            <a:ext cx="7498079" cy="320040"/>
          </a:xfrm>
          <a:prstGeom prst="rect">
            <a:avLst/>
          </a:prstGeom>
          <a:noFill/>
        </p:spPr>
        <p:txBody>
          <a:bodyPr wrap="square" lIns="0" tIns="0" rIns="0" bIns="0">
            <a:spAutoFit/>
          </a:bodyPr>
          <a:lstStyle/>
          <a:p>
            <a:pPr algn="l">
              <a:lnSpc>
                <a:spcPct val="120000"/>
              </a:lnSpc>
            </a:pPr>
            <a:r>
              <a:rPr sz="1350" b="0" i="0">
                <a:solidFill>
                  <a:srgbClr val="5B6670"/>
                </a:solidFill>
                <a:latin typeface="Calibri"/>
              </a:rPr>
              <a:t>lecture contrôlée et réunions spontanées</a:t>
            </a:r>
          </a:p>
        </p:txBody>
      </p:sp>
      <p:sp>
        <p:nvSpPr>
          <p:cNvPr id="35" name="Rounded Rectangle 34"/>
          <p:cNvSpPr/>
          <p:nvPr/>
        </p:nvSpPr>
        <p:spPr>
          <a:xfrm>
            <a:off x="1417320" y="544068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417320" y="544068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664208" y="558698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Prédiction testable : l'effet du LLM doit disparaître au contrôle de la fréquence, celui de la syntaxe doit subsister.</a:t>
            </a:r>
          </a:p>
        </p:txBody>
      </p:sp>
      <p:sp>
        <p:nvSpPr>
          <p:cNvPr id="38" name="TextBox 37"/>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PREMIÈRE ÉTAPE : SEGMENTER LE SIGNAL EN PHRASES</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Méthode, juin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554480"/>
            <a:ext cx="4937760" cy="329184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37360" y="1810512"/>
            <a:ext cx="4389120" cy="731520"/>
          </a:xfrm>
          <a:prstGeom prst="rect">
            <a:avLst/>
          </a:prstGeom>
          <a:noFill/>
        </p:spPr>
        <p:txBody>
          <a:bodyPr wrap="square" lIns="0" tIns="0" rIns="0" bIns="0">
            <a:spAutoFit/>
          </a:bodyPr>
          <a:lstStyle/>
          <a:p>
            <a:pPr algn="l">
              <a:lnSpc>
                <a:spcPct val="120000"/>
              </a:lnSpc>
            </a:pPr>
            <a:r>
              <a:rPr sz="1550" b="1" i="0">
                <a:solidFill>
                  <a:srgbClr val="1B4A56"/>
                </a:solidFill>
                <a:latin typeface="Calibri"/>
              </a:rPr>
              <a:t>Un TextGrid donne des mots,</a:t>
            </a:r>
          </a:p>
          <a:p>
            <a:pPr algn="l">
              <a:lnSpc>
                <a:spcPct val="120000"/>
              </a:lnSpc>
            </a:pPr>
            <a:r>
              <a:rPr sz="1550" b="1" i="0">
                <a:solidFill>
                  <a:srgbClr val="1B4A56"/>
                </a:solidFill>
                <a:latin typeface="Calibri"/>
              </a:rPr>
              <a:t>pas des phrases.</a:t>
            </a:r>
          </a:p>
        </p:txBody>
      </p:sp>
      <p:sp>
        <p:nvSpPr>
          <p:cNvPr id="25" name="TextBox 24"/>
          <p:cNvSpPr txBox="1"/>
          <p:nvPr/>
        </p:nvSpPr>
        <p:spPr>
          <a:xfrm>
            <a:off x="1737360" y="2606040"/>
            <a:ext cx="4389120" cy="36576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Segmenteur prosodique, trois indices :</a:t>
            </a:r>
          </a:p>
        </p:txBody>
      </p:sp>
      <p:sp>
        <p:nvSpPr>
          <p:cNvPr id="26" name="Oval 25"/>
          <p:cNvSpPr/>
          <p:nvPr/>
        </p:nvSpPr>
        <p:spPr>
          <a:xfrm>
            <a:off x="1783080" y="3063240"/>
            <a:ext cx="347472" cy="347472"/>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1</a:t>
            </a:r>
          </a:p>
        </p:txBody>
      </p:sp>
      <p:sp>
        <p:nvSpPr>
          <p:cNvPr id="27" name="TextBox 26"/>
          <p:cNvSpPr txBox="1"/>
          <p:nvPr/>
        </p:nvSpPr>
        <p:spPr>
          <a:xfrm>
            <a:off x="2286000" y="3127248"/>
            <a:ext cx="3840480" cy="365760"/>
          </a:xfrm>
          <a:prstGeom prst="rect">
            <a:avLst/>
          </a:prstGeom>
          <a:noFill/>
        </p:spPr>
        <p:txBody>
          <a:bodyPr wrap="square" lIns="0" tIns="0" rIns="0" bIns="0">
            <a:spAutoFit/>
          </a:bodyPr>
          <a:lstStyle/>
          <a:p>
            <a:pPr algn="l">
              <a:lnSpc>
                <a:spcPct val="120000"/>
              </a:lnSpc>
            </a:pPr>
            <a:r>
              <a:rPr sz="1450" b="0" i="0">
                <a:solidFill>
                  <a:srgbClr val="222B33"/>
                </a:solidFill>
                <a:latin typeface="Calibri"/>
              </a:rPr>
              <a:t>la pause qui suit le mot</a:t>
            </a:r>
          </a:p>
        </p:txBody>
      </p:sp>
      <p:sp>
        <p:nvSpPr>
          <p:cNvPr id="28" name="Oval 27"/>
          <p:cNvSpPr/>
          <p:nvPr/>
        </p:nvSpPr>
        <p:spPr>
          <a:xfrm>
            <a:off x="1783080" y="3566160"/>
            <a:ext cx="347472" cy="347472"/>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2</a:t>
            </a:r>
          </a:p>
        </p:txBody>
      </p:sp>
      <p:sp>
        <p:nvSpPr>
          <p:cNvPr id="29" name="TextBox 28"/>
          <p:cNvSpPr txBox="1"/>
          <p:nvPr/>
        </p:nvSpPr>
        <p:spPr>
          <a:xfrm>
            <a:off x="2286000" y="3630168"/>
            <a:ext cx="3840480" cy="365760"/>
          </a:xfrm>
          <a:prstGeom prst="rect">
            <a:avLst/>
          </a:prstGeom>
          <a:noFill/>
        </p:spPr>
        <p:txBody>
          <a:bodyPr wrap="square" lIns="0" tIns="0" rIns="0" bIns="0">
            <a:spAutoFit/>
          </a:bodyPr>
          <a:lstStyle/>
          <a:p>
            <a:pPr algn="l">
              <a:lnSpc>
                <a:spcPct val="120000"/>
              </a:lnSpc>
            </a:pPr>
            <a:r>
              <a:rPr sz="1450" b="0" i="0">
                <a:solidFill>
                  <a:srgbClr val="222B33"/>
                </a:solidFill>
                <a:latin typeface="Calibri"/>
              </a:rPr>
              <a:t>l'allongement du dernier phonème</a:t>
            </a:r>
          </a:p>
        </p:txBody>
      </p:sp>
      <p:sp>
        <p:nvSpPr>
          <p:cNvPr id="30" name="Oval 29"/>
          <p:cNvSpPr/>
          <p:nvPr/>
        </p:nvSpPr>
        <p:spPr>
          <a:xfrm>
            <a:off x="1783080" y="4069080"/>
            <a:ext cx="347472" cy="347472"/>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3</a:t>
            </a:r>
          </a:p>
        </p:txBody>
      </p:sp>
      <p:sp>
        <p:nvSpPr>
          <p:cNvPr id="31" name="TextBox 30"/>
          <p:cNvSpPr txBox="1"/>
          <p:nvPr/>
        </p:nvSpPr>
        <p:spPr>
          <a:xfrm>
            <a:off x="2286000" y="4133088"/>
            <a:ext cx="3840480" cy="365760"/>
          </a:xfrm>
          <a:prstGeom prst="rect">
            <a:avLst/>
          </a:prstGeom>
          <a:noFill/>
        </p:spPr>
        <p:txBody>
          <a:bodyPr wrap="square" lIns="0" tIns="0" rIns="0" bIns="0">
            <a:spAutoFit/>
          </a:bodyPr>
          <a:lstStyle/>
          <a:p>
            <a:pPr algn="l">
              <a:lnSpc>
                <a:spcPct val="120000"/>
              </a:lnSpc>
            </a:pPr>
            <a:r>
              <a:rPr sz="1450" b="0" i="0">
                <a:solidFill>
                  <a:srgbClr val="222B33"/>
                </a:solidFill>
                <a:latin typeface="Calibri"/>
              </a:rPr>
              <a:t>le reset de pitch</a:t>
            </a:r>
          </a:p>
        </p:txBody>
      </p:sp>
      <p:graphicFrame>
        <p:nvGraphicFramePr>
          <p:cNvPr id="33" name="Table 32"/>
          <p:cNvGraphicFramePr>
            <a:graphicFrameLocks noGrp="1"/>
          </p:cNvGraphicFramePr>
          <p:nvPr/>
        </p:nvGraphicFramePr>
        <p:xfrm>
          <a:off x="6675120" y="3200400"/>
          <a:ext cx="4800600" cy="153924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65760">
                <a:tc>
                  <a:txBody>
                    <a:bodyPr/>
                    <a:lstStyle/>
                    <a:p>
                      <a:pPr algn="ctr"/>
                      <a:r>
                        <a:rPr sz="1300" b="1">
                          <a:solidFill>
                            <a:srgbClr val="FFFFFF"/>
                          </a:solidFill>
                          <a:latin typeface="Calibri"/>
                        </a:rPr>
                        <a:t>Évaluation</a:t>
                      </a:r>
                    </a:p>
                  </a:txBody>
                  <a:tcPr anchor="ctr">
                    <a:solidFill>
                      <a:srgbClr val="1B4A56"/>
                    </a:solidFill>
                  </a:tcPr>
                </a:tc>
                <a:tc>
                  <a:txBody>
                    <a:bodyPr/>
                    <a:lstStyle/>
                    <a:p>
                      <a:pPr algn="ctr"/>
                      <a:r>
                        <a:rPr sz="1300" b="1">
                          <a:solidFill>
                            <a:srgbClr val="FFFFFF"/>
                          </a:solidFill>
                          <a:latin typeface="Calibri"/>
                        </a:rPr>
                        <a:t>P</a:t>
                      </a:r>
                    </a:p>
                  </a:txBody>
                  <a:tcPr anchor="ctr">
                    <a:solidFill>
                      <a:srgbClr val="1B4A56"/>
                    </a:solidFill>
                  </a:tcPr>
                </a:tc>
                <a:tc>
                  <a:txBody>
                    <a:bodyPr/>
                    <a:lstStyle/>
                    <a:p>
                      <a:pPr algn="ctr"/>
                      <a:r>
                        <a:rPr sz="1300" b="1">
                          <a:solidFill>
                            <a:srgbClr val="FFFFFF"/>
                          </a:solidFill>
                          <a:latin typeface="Calibri"/>
                        </a:rPr>
                        <a:t>R</a:t>
                      </a:r>
                    </a:p>
                  </a:txBody>
                  <a:tcPr anchor="ctr">
                    <a:solidFill>
                      <a:srgbClr val="1B4A56"/>
                    </a:solidFill>
                  </a:tcPr>
                </a:tc>
                <a:tc>
                  <a:txBody>
                    <a:bodyPr/>
                    <a:lstStyle/>
                    <a:p>
                      <a:pPr algn="ctr"/>
                      <a:r>
                        <a:rPr sz="1300" b="1">
                          <a:solidFill>
                            <a:srgbClr val="FFFFFF"/>
                          </a:solidFill>
                          <a:latin typeface="Calibri"/>
                        </a:rPr>
                        <a:t>F1</a:t>
                      </a:r>
                    </a:p>
                  </a:txBody>
                  <a:tcPr anchor="ctr">
                    <a:solidFill>
                      <a:srgbClr val="1B4A56"/>
                    </a:solidFill>
                  </a:tcPr>
                </a:tc>
                <a:extLst>
                  <a:ext uri="{0D108BD9-81ED-4DB2-BD59-A6C34878D82A}">
                    <a16:rowId xmlns:a16="http://schemas.microsoft.com/office/drawing/2014/main" val="10000"/>
                  </a:ext>
                </a:extLst>
              </a:tr>
              <a:tr h="365760">
                <a:tc>
                  <a:txBody>
                    <a:bodyPr/>
                    <a:lstStyle/>
                    <a:p>
                      <a:pPr algn="l"/>
                      <a:r>
                        <a:rPr sz="1300">
                          <a:solidFill>
                            <a:srgbClr val="222B33"/>
                          </a:solidFill>
                          <a:latin typeface="Calibri"/>
                        </a:rPr>
                        <a:t>Segmenteur (signal seul)</a:t>
                      </a:r>
                    </a:p>
                  </a:txBody>
                  <a:tcPr anchor="ctr">
                    <a:solidFill>
                      <a:srgbClr val="E9EFF0"/>
                    </a:solidFill>
                  </a:tcPr>
                </a:tc>
                <a:tc>
                  <a:txBody>
                    <a:bodyPr/>
                    <a:lstStyle/>
                    <a:p>
                      <a:pPr algn="ctr"/>
                      <a:r>
                        <a:rPr sz="1300">
                          <a:solidFill>
                            <a:srgbClr val="222B33"/>
                          </a:solidFill>
                          <a:latin typeface="Calibri"/>
                        </a:rPr>
                        <a:t>0,70</a:t>
                      </a:r>
                    </a:p>
                  </a:txBody>
                  <a:tcPr anchor="ctr">
                    <a:solidFill>
                      <a:srgbClr val="E9EFF0"/>
                    </a:solidFill>
                  </a:tcPr>
                </a:tc>
                <a:tc>
                  <a:txBody>
                    <a:bodyPr/>
                    <a:lstStyle/>
                    <a:p>
                      <a:pPr algn="ctr"/>
                      <a:r>
                        <a:rPr sz="1300">
                          <a:solidFill>
                            <a:srgbClr val="222B33"/>
                          </a:solidFill>
                          <a:latin typeface="Calibri"/>
                        </a:rPr>
                        <a:t>0,84</a:t>
                      </a:r>
                    </a:p>
                  </a:txBody>
                  <a:tcPr anchor="ctr">
                    <a:solidFill>
                      <a:srgbClr val="E9EFF0"/>
                    </a:solidFill>
                  </a:tcPr>
                </a:tc>
                <a:tc>
                  <a:txBody>
                    <a:bodyPr/>
                    <a:lstStyle/>
                    <a:p>
                      <a:pPr algn="ctr"/>
                      <a:r>
                        <a:rPr sz="1300">
                          <a:solidFill>
                            <a:srgbClr val="222B33"/>
                          </a:solidFill>
                          <a:latin typeface="Calibri"/>
                        </a:rPr>
                        <a:t>0,76</a:t>
                      </a:r>
                    </a:p>
                  </a:txBody>
                  <a:tcPr anchor="ctr">
                    <a:solidFill>
                      <a:srgbClr val="E9EFF0"/>
                    </a:solidFill>
                  </a:tcPr>
                </a:tc>
                <a:extLst>
                  <a:ext uri="{0D108BD9-81ED-4DB2-BD59-A6C34878D82A}">
                    <a16:rowId xmlns:a16="http://schemas.microsoft.com/office/drawing/2014/main" val="10001"/>
                  </a:ext>
                </a:extLst>
              </a:tr>
              <a:tr h="365760">
                <a:tc>
                  <a:txBody>
                    <a:bodyPr/>
                    <a:lstStyle/>
                    <a:p>
                      <a:pPr algn="l"/>
                      <a:r>
                        <a:rPr sz="1300">
                          <a:solidFill>
                            <a:srgbClr val="222B33"/>
                          </a:solidFill>
                          <a:latin typeface="Calibri"/>
                        </a:rPr>
                        <a:t>Whisper (+ modèle de langue)</a:t>
                      </a:r>
                    </a:p>
                  </a:txBody>
                  <a:tcPr anchor="ctr">
                    <a:solidFill>
                      <a:srgbClr val="FFFFFF"/>
                    </a:solidFill>
                  </a:tcPr>
                </a:tc>
                <a:tc>
                  <a:txBody>
                    <a:bodyPr/>
                    <a:lstStyle/>
                    <a:p>
                      <a:pPr algn="ctr"/>
                      <a:r>
                        <a:rPr sz="1300">
                          <a:solidFill>
                            <a:srgbClr val="222B33"/>
                          </a:solidFill>
                          <a:latin typeface="Calibri"/>
                        </a:rPr>
                        <a:t>0,79</a:t>
                      </a:r>
                    </a:p>
                  </a:txBody>
                  <a:tcPr anchor="ctr">
                    <a:solidFill>
                      <a:srgbClr val="FFFFFF"/>
                    </a:solidFill>
                  </a:tcPr>
                </a:tc>
                <a:tc>
                  <a:txBody>
                    <a:bodyPr/>
                    <a:lstStyle/>
                    <a:p>
                      <a:pPr algn="ctr"/>
                      <a:r>
                        <a:rPr sz="1300">
                          <a:solidFill>
                            <a:srgbClr val="222B33"/>
                          </a:solidFill>
                          <a:latin typeface="Calibri"/>
                        </a:rPr>
                        <a:t>0,88</a:t>
                      </a:r>
                    </a:p>
                  </a:txBody>
                  <a:tcPr anchor="ctr">
                    <a:solidFill>
                      <a:srgbClr val="FFFFFF"/>
                    </a:solidFill>
                  </a:tcPr>
                </a:tc>
                <a:tc>
                  <a:txBody>
                    <a:bodyPr/>
                    <a:lstStyle/>
                    <a:p>
                      <a:pPr algn="ctr"/>
                      <a:r>
                        <a:rPr sz="1300">
                          <a:solidFill>
                            <a:srgbClr val="222B33"/>
                          </a:solidFill>
                          <a:latin typeface="Calibri"/>
                        </a:rPr>
                        <a:t>0,83</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34" name="Rounded Rectangle 33"/>
          <p:cNvSpPr/>
          <p:nvPr/>
        </p:nvSpPr>
        <p:spPr>
          <a:xfrm>
            <a:off x="1417320" y="502920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417320" y="502920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664208" y="517550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780 frontières posées pour 653 réelles : le segmenteur découpe un peu trop, mais il manque peu. C'est le bon profil d'erreur.</a:t>
            </a:r>
          </a:p>
        </p:txBody>
      </p:sp>
      <p:sp>
        <p:nvSpPr>
          <p:cNvPr id="37" name="TextBox 36"/>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9</a:t>
            </a:r>
          </a:p>
        </p:txBody>
      </p:sp>
      <p:pic>
        <p:nvPicPr>
          <p:cNvPr id="39" name="Image 38">
            <a:extLst>
              <a:ext uri="{FF2B5EF4-FFF2-40B4-BE49-F238E27FC236}">
                <a16:creationId xmlns:a16="http://schemas.microsoft.com/office/drawing/2014/main" id="{D82196EF-2457-44A4-86A0-81353A243241}"/>
              </a:ext>
            </a:extLst>
          </p:cNvPr>
          <p:cNvPicPr>
            <a:picLocks noChangeAspect="1"/>
          </p:cNvPicPr>
          <p:nvPr/>
        </p:nvPicPr>
        <p:blipFill>
          <a:blip r:embed="rId4"/>
          <a:stretch>
            <a:fillRect/>
          </a:stretch>
        </p:blipFill>
        <p:spPr>
          <a:xfrm>
            <a:off x="6544361" y="944774"/>
            <a:ext cx="5398649" cy="22144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LES DEUX MESURES DE SURPRISE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Méthode, juin à août</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554480"/>
            <a:ext cx="4937760" cy="288036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37360" y="1783080"/>
            <a:ext cx="4389120" cy="320040"/>
          </a:xfrm>
          <a:prstGeom prst="rect">
            <a:avLst/>
          </a:prstGeom>
          <a:noFill/>
        </p:spPr>
        <p:txBody>
          <a:bodyPr wrap="square" lIns="0" tIns="0" rIns="0" bIns="0">
            <a:spAutoFit/>
          </a:bodyPr>
          <a:lstStyle/>
          <a:p>
            <a:pPr algn="l">
              <a:lnSpc>
                <a:spcPct val="120000"/>
              </a:lnSpc>
            </a:pPr>
            <a:r>
              <a:rPr sz="1650" b="1" i="0">
                <a:solidFill>
                  <a:srgbClr val="1B4A56"/>
                </a:solidFill>
                <a:latin typeface="Calibri"/>
              </a:rPr>
              <a:t>Surprise syntaxique</a:t>
            </a:r>
          </a:p>
        </p:txBody>
      </p:sp>
      <p:sp>
        <p:nvSpPr>
          <p:cNvPr id="25" name="TextBox 24"/>
          <p:cNvSpPr txBox="1"/>
          <p:nvPr/>
        </p:nvSpPr>
        <p:spPr>
          <a:xfrm>
            <a:off x="1737360" y="2212848"/>
            <a:ext cx="4389120" cy="201168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Analyse en constituants,</a:t>
            </a:r>
          </a:p>
          <a:p>
            <a:pPr algn="l">
              <a:lnSpc>
                <a:spcPct val="120000"/>
              </a:lnSpc>
            </a:pPr>
            <a:r>
              <a:rPr sz="1500" b="0" i="0">
                <a:solidFill>
                  <a:srgbClr val="222B33"/>
                </a:solidFill>
                <a:latin typeface="Calibri"/>
              </a:rPr>
              <a:t>puis probabilités de préfixe.</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Somme sur toutes les analyses</a:t>
            </a:r>
          </a:p>
          <a:p>
            <a:pPr algn="l">
              <a:lnSpc>
                <a:spcPct val="120000"/>
              </a:lnSpc>
            </a:pPr>
            <a:r>
              <a:rPr sz="1500" b="0" i="0">
                <a:solidFill>
                  <a:srgbClr val="222B33"/>
                </a:solidFill>
                <a:latin typeface="Calibri"/>
              </a:rPr>
              <a:t>compatibles avec le début de phrase.</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Validée contre l'énumération</a:t>
            </a:r>
          </a:p>
          <a:p>
            <a:pPr algn="l">
              <a:lnSpc>
                <a:spcPct val="120000"/>
              </a:lnSpc>
            </a:pPr>
            <a:r>
              <a:rPr sz="1500" b="0" i="0">
                <a:solidFill>
                  <a:srgbClr val="222B33"/>
                </a:solidFill>
                <a:latin typeface="Calibri"/>
              </a:rPr>
              <a:t>exhaustive.</a:t>
            </a:r>
          </a:p>
        </p:txBody>
      </p:sp>
      <p:sp>
        <p:nvSpPr>
          <p:cNvPr id="26" name="Rounded Rectangle 25"/>
          <p:cNvSpPr/>
          <p:nvPr/>
        </p:nvSpPr>
        <p:spPr>
          <a:xfrm>
            <a:off x="6720840" y="1554480"/>
            <a:ext cx="4754880" cy="288036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1783080"/>
            <a:ext cx="4206240" cy="320040"/>
          </a:xfrm>
          <a:prstGeom prst="rect">
            <a:avLst/>
          </a:prstGeom>
          <a:noFill/>
        </p:spPr>
        <p:txBody>
          <a:bodyPr wrap="square" lIns="0" tIns="0" rIns="0" bIns="0">
            <a:spAutoFit/>
          </a:bodyPr>
          <a:lstStyle/>
          <a:p>
            <a:pPr algn="l">
              <a:lnSpc>
                <a:spcPct val="120000"/>
              </a:lnSpc>
            </a:pPr>
            <a:r>
              <a:rPr sz="1650" b="1" i="0">
                <a:solidFill>
                  <a:srgbClr val="1B4A56"/>
                </a:solidFill>
                <a:latin typeface="Calibri"/>
              </a:rPr>
              <a:t>Surprise neuronale (GPT-2)</a:t>
            </a:r>
          </a:p>
        </p:txBody>
      </p:sp>
      <p:sp>
        <p:nvSpPr>
          <p:cNvPr id="28" name="TextBox 27"/>
          <p:cNvSpPr txBox="1"/>
          <p:nvPr/>
        </p:nvSpPr>
        <p:spPr>
          <a:xfrm>
            <a:off x="7040880" y="2212848"/>
            <a:ext cx="4206240" cy="201168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Le modèle travaille sur des</a:t>
            </a:r>
          </a:p>
          <a:p>
            <a:pPr algn="l">
              <a:lnSpc>
                <a:spcPct val="120000"/>
              </a:lnSpc>
            </a:pPr>
            <a:r>
              <a:rPr sz="1500" b="0" i="0">
                <a:solidFill>
                  <a:srgbClr val="222B33"/>
                </a:solidFill>
                <a:latin typeface="Calibri"/>
              </a:rPr>
              <a:t>sous-unités, mes durées sur des mots.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Réalignement : on somme les surprises</a:t>
            </a:r>
          </a:p>
          <a:p>
            <a:pPr algn="l">
              <a:lnSpc>
                <a:spcPct val="120000"/>
              </a:lnSpc>
            </a:pPr>
            <a:r>
              <a:rPr sz="1500" b="0" i="0">
                <a:solidFill>
                  <a:srgbClr val="222B33"/>
                </a:solidFill>
                <a:latin typeface="Calibri"/>
              </a:rPr>
              <a:t>des sous-unités.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Les probabilités se multiplient,</a:t>
            </a:r>
          </a:p>
          <a:p>
            <a:pPr algn="l">
              <a:lnSpc>
                <a:spcPct val="120000"/>
              </a:lnSpc>
            </a:pPr>
            <a:r>
              <a:rPr sz="1500" b="0" i="0">
                <a:solidFill>
                  <a:srgbClr val="222B33"/>
                </a:solidFill>
                <a:latin typeface="Calibri"/>
              </a:rPr>
              <a:t>donc les logarithmes s'additionnent.</a:t>
            </a:r>
          </a:p>
        </p:txBody>
      </p:sp>
      <p:sp>
        <p:nvSpPr>
          <p:cNvPr id="29" name="Rounded Rectangle 28"/>
          <p:cNvSpPr/>
          <p:nvPr/>
        </p:nvSpPr>
        <p:spPr>
          <a:xfrm>
            <a:off x="1417320" y="4617720"/>
            <a:ext cx="10254082" cy="822960"/>
          </a:xfrm>
          <a:prstGeom prst="roundRect">
            <a:avLst>
              <a:gd name="adj" fmla="val 4000"/>
            </a:avLst>
          </a:prstGeom>
          <a:solidFill>
            <a:srgbClr val="E9EFF0"/>
          </a:solidFill>
          <a:ln w="12700">
            <a:solidFill>
              <a:srgbClr val="E9E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91640" y="4828032"/>
            <a:ext cx="9705442" cy="457200"/>
          </a:xfrm>
          <a:prstGeom prst="rect">
            <a:avLst/>
          </a:prstGeom>
          <a:noFill/>
        </p:spPr>
        <p:txBody>
          <a:bodyPr wrap="square" lIns="0" tIns="0" rIns="0" bIns="0">
            <a:spAutoFit/>
          </a:bodyPr>
          <a:lstStyle/>
          <a:p>
            <a:pPr algn="ctr">
              <a:lnSpc>
                <a:spcPct val="120000"/>
              </a:lnSpc>
            </a:pPr>
            <a:r>
              <a:rPr sz="1600" b="1" i="0">
                <a:solidFill>
                  <a:srgbClr val="123D33"/>
                </a:solidFill>
                <a:latin typeface="Calibri"/>
              </a:rPr>
              <a:t>Mêmes phrases, mêmes filtres, mêmes contrôles, même modèle de régression.</a:t>
            </a:r>
          </a:p>
        </p:txBody>
      </p:sp>
      <p:sp>
        <p:nvSpPr>
          <p:cNvPr id="31" name="TextBox 30"/>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LE PROTOCOLE : DEUX CORPUS, SIX CONTRÔLES</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Méthode, juillet</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graphicFrame>
        <p:nvGraphicFramePr>
          <p:cNvPr id="23" name="Table 22"/>
          <p:cNvGraphicFramePr>
            <a:graphicFrameLocks noGrp="1"/>
          </p:cNvGraphicFramePr>
          <p:nvPr/>
        </p:nvGraphicFramePr>
        <p:xfrm>
          <a:off x="1417320" y="1600200"/>
          <a:ext cx="4937760" cy="137160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65760">
                <a:tc>
                  <a:txBody>
                    <a:bodyPr/>
                    <a:lstStyle/>
                    <a:p>
                      <a:pPr algn="ctr"/>
                      <a:r>
                        <a:rPr sz="1350" b="1">
                          <a:solidFill>
                            <a:srgbClr val="FFFFFF"/>
                          </a:solidFill>
                          <a:latin typeface="Calibri"/>
                        </a:rPr>
                        <a:t>Corpus</a:t>
                      </a:r>
                    </a:p>
                  </a:txBody>
                  <a:tcPr anchor="ctr">
                    <a:solidFill>
                      <a:srgbClr val="1B4A56"/>
                    </a:solidFill>
                  </a:tcPr>
                </a:tc>
                <a:tc>
                  <a:txBody>
                    <a:bodyPr/>
                    <a:lstStyle/>
                    <a:p>
                      <a:pPr algn="ctr"/>
                      <a:r>
                        <a:rPr sz="1350" b="1">
                          <a:solidFill>
                            <a:srgbClr val="FFFFFF"/>
                          </a:solidFill>
                          <a:latin typeface="Calibri"/>
                        </a:rPr>
                        <a:t>Mots analysés</a:t>
                      </a:r>
                    </a:p>
                  </a:txBody>
                  <a:tcPr anchor="ctr">
                    <a:solidFill>
                      <a:srgbClr val="1B4A56"/>
                    </a:solidFill>
                  </a:tcPr>
                </a:tc>
                <a:extLst>
                  <a:ext uri="{0D108BD9-81ED-4DB2-BD59-A6C34878D82A}">
                    <a16:rowId xmlns:a16="http://schemas.microsoft.com/office/drawing/2014/main" val="10000"/>
                  </a:ext>
                </a:extLst>
              </a:tr>
              <a:tr h="365760">
                <a:tc>
                  <a:txBody>
                    <a:bodyPr/>
                    <a:lstStyle/>
                    <a:p>
                      <a:pPr algn="l"/>
                      <a:r>
                        <a:rPr sz="1350">
                          <a:solidFill>
                            <a:srgbClr val="222B33"/>
                          </a:solidFill>
                          <a:latin typeface="Calibri"/>
                        </a:rPr>
                        <a:t>Parole lue, The Old Man and the Sea</a:t>
                      </a:r>
                    </a:p>
                  </a:txBody>
                  <a:tcPr anchor="ctr">
                    <a:solidFill>
                      <a:srgbClr val="E9EFF0"/>
                    </a:solidFill>
                  </a:tcPr>
                </a:tc>
                <a:tc>
                  <a:txBody>
                    <a:bodyPr/>
                    <a:lstStyle/>
                    <a:p>
                      <a:pPr algn="ctr"/>
                      <a:r>
                        <a:rPr sz="1350">
                          <a:solidFill>
                            <a:srgbClr val="222B33"/>
                          </a:solidFill>
                          <a:latin typeface="Calibri"/>
                        </a:rPr>
                        <a:t>10 672</a:t>
                      </a:r>
                    </a:p>
                  </a:txBody>
                  <a:tcPr anchor="ctr">
                    <a:solidFill>
                      <a:srgbClr val="E9EFF0"/>
                    </a:solidFill>
                  </a:tcPr>
                </a:tc>
                <a:extLst>
                  <a:ext uri="{0D108BD9-81ED-4DB2-BD59-A6C34878D82A}">
                    <a16:rowId xmlns:a16="http://schemas.microsoft.com/office/drawing/2014/main" val="10001"/>
                  </a:ext>
                </a:extLst>
              </a:tr>
              <a:tr h="365760">
                <a:tc>
                  <a:txBody>
                    <a:bodyPr/>
                    <a:lstStyle/>
                    <a:p>
                      <a:pPr algn="l"/>
                      <a:r>
                        <a:rPr sz="1350">
                          <a:solidFill>
                            <a:srgbClr val="222B33"/>
                          </a:solidFill>
                          <a:latin typeface="Calibri"/>
                        </a:rPr>
                        <a:t>Parole spontanée, AMI (12 réunions)</a:t>
                      </a:r>
                    </a:p>
                  </a:txBody>
                  <a:tcPr anchor="ctr">
                    <a:solidFill>
                      <a:srgbClr val="FFFFFF"/>
                    </a:solidFill>
                  </a:tcPr>
                </a:tc>
                <a:tc>
                  <a:txBody>
                    <a:bodyPr/>
                    <a:lstStyle/>
                    <a:p>
                      <a:pPr algn="ctr"/>
                      <a:r>
                        <a:rPr sz="1350">
                          <a:solidFill>
                            <a:srgbClr val="222B33"/>
                          </a:solidFill>
                          <a:latin typeface="Calibri"/>
                        </a:rPr>
                        <a:t>60 285</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24" name="TextBox 23"/>
          <p:cNvSpPr txBox="1"/>
          <p:nvPr/>
        </p:nvSpPr>
        <p:spPr>
          <a:xfrm>
            <a:off x="1417320" y="3017520"/>
            <a:ext cx="4937760" cy="1463040"/>
          </a:xfrm>
          <a:prstGeom prst="rect">
            <a:avLst/>
          </a:prstGeom>
          <a:noFill/>
        </p:spPr>
        <p:txBody>
          <a:bodyPr wrap="square" lIns="0" tIns="0" rIns="0" bIns="0">
            <a:spAutoFit/>
          </a:bodyPr>
          <a:lstStyle/>
          <a:p>
            <a:pPr algn="l">
              <a:lnSpc>
                <a:spcPct val="120000"/>
              </a:lnSpc>
            </a:pPr>
            <a:r>
              <a:rPr sz="1450" b="0" i="0">
                <a:solidFill>
                  <a:srgbClr val="222B33"/>
                </a:solidFill>
                <a:latin typeface="Calibri"/>
              </a:rPr>
              <a:t>Pourquoi commencer par la parole lue</a:t>
            </a:r>
          </a:p>
          <a:p>
            <a:pPr algn="l">
              <a:lnSpc>
                <a:spcPct val="120000"/>
              </a:lnSpc>
            </a:pPr>
            <a:endParaRPr sz="1450" b="0" i="0">
              <a:solidFill>
                <a:srgbClr val="222B33"/>
              </a:solidFill>
              <a:latin typeface="Calibri"/>
            </a:endParaRPr>
          </a:p>
          <a:p>
            <a:pPr algn="l">
              <a:lnSpc>
                <a:spcPct val="120000"/>
              </a:lnSpc>
            </a:pPr>
            <a:r>
              <a:rPr sz="1450" b="0" i="0">
                <a:solidFill>
                  <a:srgbClr val="222B33"/>
                </a:solidFill>
                <a:latin typeface="Calibri"/>
              </a:rPr>
              <a:t>Si l'effet n'apparaît pas sur un matériau</a:t>
            </a:r>
          </a:p>
          <a:p>
            <a:pPr algn="l">
              <a:lnSpc>
                <a:spcPct val="120000"/>
              </a:lnSpc>
            </a:pPr>
            <a:r>
              <a:rPr sz="1450" b="0" i="0">
                <a:solidFill>
                  <a:srgbClr val="222B33"/>
                </a:solidFill>
                <a:latin typeface="Calibri"/>
              </a:rPr>
              <a:t>propre, inutile de le chercher dans</a:t>
            </a:r>
          </a:p>
          <a:p>
            <a:pPr algn="l">
              <a:lnSpc>
                <a:spcPct val="120000"/>
              </a:lnSpc>
            </a:pPr>
            <a:r>
              <a:rPr sz="1450" b="0" i="0">
                <a:solidFill>
                  <a:srgbClr val="222B33"/>
                </a:solidFill>
                <a:latin typeface="Calibri"/>
              </a:rPr>
              <a:t>du spontané.</a:t>
            </a:r>
          </a:p>
          <a:p>
            <a:pPr algn="l">
              <a:lnSpc>
                <a:spcPct val="120000"/>
              </a:lnSpc>
            </a:pPr>
            <a:endParaRPr sz="1450" b="0" i="0">
              <a:solidFill>
                <a:srgbClr val="222B33"/>
              </a:solidFill>
              <a:latin typeface="Calibri"/>
            </a:endParaRPr>
          </a:p>
          <a:p>
            <a:pPr algn="l">
              <a:lnSpc>
                <a:spcPct val="120000"/>
              </a:lnSpc>
            </a:pPr>
            <a:r>
              <a:rPr sz="1450" b="0" i="0">
                <a:solidFill>
                  <a:srgbClr val="222B33"/>
                </a:solidFill>
                <a:latin typeface="Calibri"/>
              </a:rPr>
              <a:t>AMI est le corpus de l'article.</a:t>
            </a:r>
          </a:p>
        </p:txBody>
      </p:sp>
      <p:graphicFrame>
        <p:nvGraphicFramePr>
          <p:cNvPr id="25" name="Table 24"/>
          <p:cNvGraphicFramePr>
            <a:graphicFrameLocks noGrp="1"/>
          </p:cNvGraphicFramePr>
          <p:nvPr/>
        </p:nvGraphicFramePr>
        <p:xfrm>
          <a:off x="6675120" y="1600200"/>
          <a:ext cx="4800600" cy="3300546"/>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tblGrid>
              <a:tr h="470262">
                <a:tc>
                  <a:txBody>
                    <a:bodyPr/>
                    <a:lstStyle/>
                    <a:p>
                      <a:pPr algn="ctr"/>
                      <a:r>
                        <a:rPr sz="1250" b="1">
                          <a:solidFill>
                            <a:srgbClr val="FFFFFF"/>
                          </a:solidFill>
                          <a:latin typeface="Calibri"/>
                        </a:rPr>
                        <a:t>Contrôle</a:t>
                      </a:r>
                    </a:p>
                  </a:txBody>
                  <a:tcPr anchor="ctr">
                    <a:solidFill>
                      <a:srgbClr val="1B4A56"/>
                    </a:solidFill>
                  </a:tcPr>
                </a:tc>
                <a:tc>
                  <a:txBody>
                    <a:bodyPr/>
                    <a:lstStyle/>
                    <a:p>
                      <a:pPr algn="ctr"/>
                      <a:r>
                        <a:rPr sz="1250" b="1">
                          <a:solidFill>
                            <a:srgbClr val="FFFFFF"/>
                          </a:solidFill>
                          <a:latin typeface="Calibri"/>
                        </a:rPr>
                        <a:t>Objection neutralisée</a:t>
                      </a:r>
                    </a:p>
                  </a:txBody>
                  <a:tcPr anchor="ctr">
                    <a:solidFill>
                      <a:srgbClr val="1B4A56"/>
                    </a:solidFill>
                  </a:tcPr>
                </a:tc>
                <a:extLst>
                  <a:ext uri="{0D108BD9-81ED-4DB2-BD59-A6C34878D82A}">
                    <a16:rowId xmlns:a16="http://schemas.microsoft.com/office/drawing/2014/main" val="10000"/>
                  </a:ext>
                </a:extLst>
              </a:tr>
              <a:tr h="470262">
                <a:tc>
                  <a:txBody>
                    <a:bodyPr/>
                    <a:lstStyle/>
                    <a:p>
                      <a:pPr algn="l"/>
                      <a:r>
                        <a:rPr sz="1250">
                          <a:solidFill>
                            <a:srgbClr val="222B33"/>
                          </a:solidFill>
                          <a:latin typeface="Calibri"/>
                        </a:rPr>
                        <a:t>Longueur</a:t>
                      </a:r>
                    </a:p>
                  </a:txBody>
                  <a:tcPr anchor="ctr">
                    <a:solidFill>
                      <a:srgbClr val="E9EFF0"/>
                    </a:solidFill>
                  </a:tcPr>
                </a:tc>
                <a:tc>
                  <a:txBody>
                    <a:bodyPr/>
                    <a:lstStyle/>
                    <a:p>
                      <a:pPr algn="ctr"/>
                      <a:r>
                        <a:rPr sz="1250">
                          <a:solidFill>
                            <a:srgbClr val="222B33"/>
                          </a:solidFill>
                          <a:latin typeface="Calibri"/>
                        </a:rPr>
                        <a:t>un mot long dure plus</a:t>
                      </a:r>
                    </a:p>
                  </a:txBody>
                  <a:tcPr anchor="ctr">
                    <a:solidFill>
                      <a:srgbClr val="E9EFF0"/>
                    </a:solidFill>
                  </a:tcPr>
                </a:tc>
                <a:extLst>
                  <a:ext uri="{0D108BD9-81ED-4DB2-BD59-A6C34878D82A}">
                    <a16:rowId xmlns:a16="http://schemas.microsoft.com/office/drawing/2014/main" val="10001"/>
                  </a:ext>
                </a:extLst>
              </a:tr>
              <a:tr h="470262">
                <a:tc>
                  <a:txBody>
                    <a:bodyPr/>
                    <a:lstStyle/>
                    <a:p>
                      <a:pPr algn="l"/>
                      <a:r>
                        <a:rPr sz="1250">
                          <a:solidFill>
                            <a:srgbClr val="222B33"/>
                          </a:solidFill>
                          <a:latin typeface="Calibri"/>
                        </a:rPr>
                        <a:t>Fréquence</a:t>
                      </a:r>
                    </a:p>
                  </a:txBody>
                  <a:tcPr anchor="ctr">
                    <a:solidFill>
                      <a:srgbClr val="FFFFFF"/>
                    </a:solidFill>
                  </a:tcPr>
                </a:tc>
                <a:tc>
                  <a:txBody>
                    <a:bodyPr/>
                    <a:lstStyle/>
                    <a:p>
                      <a:pPr algn="ctr"/>
                      <a:r>
                        <a:rPr sz="1250">
                          <a:solidFill>
                            <a:srgbClr val="222B33"/>
                          </a:solidFill>
                          <a:latin typeface="Calibri"/>
                        </a:rPr>
                        <a:t>un mot rare est plus surprenant et plus long</a:t>
                      </a:r>
                    </a:p>
                  </a:txBody>
                  <a:tcPr anchor="ctr">
                    <a:solidFill>
                      <a:srgbClr val="FFFFFF"/>
                    </a:solidFill>
                  </a:tcPr>
                </a:tc>
                <a:extLst>
                  <a:ext uri="{0D108BD9-81ED-4DB2-BD59-A6C34878D82A}">
                    <a16:rowId xmlns:a16="http://schemas.microsoft.com/office/drawing/2014/main" val="10002"/>
                  </a:ext>
                </a:extLst>
              </a:tr>
              <a:tr h="470262">
                <a:tc>
                  <a:txBody>
                    <a:bodyPr/>
                    <a:lstStyle/>
                    <a:p>
                      <a:pPr algn="l"/>
                      <a:r>
                        <a:rPr sz="1250">
                          <a:solidFill>
                            <a:srgbClr val="222B33"/>
                          </a:solidFill>
                          <a:latin typeface="Calibri"/>
                        </a:rPr>
                        <a:t>Longueur × fréquence</a:t>
                      </a:r>
                    </a:p>
                  </a:txBody>
                  <a:tcPr anchor="ctr">
                    <a:solidFill>
                      <a:srgbClr val="E9EFF0"/>
                    </a:solidFill>
                  </a:tcPr>
                </a:tc>
                <a:tc>
                  <a:txBody>
                    <a:bodyPr/>
                    <a:lstStyle/>
                    <a:p>
                      <a:pPr algn="ctr"/>
                      <a:r>
                        <a:rPr sz="1250">
                          <a:solidFill>
                            <a:srgbClr val="222B33"/>
                          </a:solidFill>
                          <a:latin typeface="Calibri"/>
                        </a:rPr>
                        <a:t>les deux interagissent</a:t>
                      </a:r>
                    </a:p>
                  </a:txBody>
                  <a:tcPr anchor="ctr">
                    <a:solidFill>
                      <a:srgbClr val="E9EFF0"/>
                    </a:solidFill>
                  </a:tcPr>
                </a:tc>
                <a:extLst>
                  <a:ext uri="{0D108BD9-81ED-4DB2-BD59-A6C34878D82A}">
                    <a16:rowId xmlns:a16="http://schemas.microsoft.com/office/drawing/2014/main" val="10003"/>
                  </a:ext>
                </a:extLst>
              </a:tr>
              <a:tr h="470262">
                <a:tc>
                  <a:txBody>
                    <a:bodyPr/>
                    <a:lstStyle/>
                    <a:p>
                      <a:pPr algn="l"/>
                      <a:r>
                        <a:rPr sz="1250">
                          <a:solidFill>
                            <a:srgbClr val="222B33"/>
                          </a:solidFill>
                          <a:latin typeface="Calibri"/>
                        </a:rPr>
                        <a:t>Classe du mot</a:t>
                      </a:r>
                    </a:p>
                  </a:txBody>
                  <a:tcPr anchor="ctr">
                    <a:solidFill>
                      <a:srgbClr val="FFFFFF"/>
                    </a:solidFill>
                  </a:tcPr>
                </a:tc>
                <a:tc>
                  <a:txBody>
                    <a:bodyPr/>
                    <a:lstStyle/>
                    <a:p>
                      <a:pPr algn="ctr"/>
                      <a:r>
                        <a:rPr sz="1250">
                          <a:solidFill>
                            <a:srgbClr val="222B33"/>
                          </a:solidFill>
                          <a:latin typeface="Calibri"/>
                        </a:rPr>
                        <a:t>les mots de contenu sont plus articulés</a:t>
                      </a:r>
                    </a:p>
                  </a:txBody>
                  <a:tcPr anchor="ctr">
                    <a:solidFill>
                      <a:srgbClr val="FFFFFF"/>
                    </a:solidFill>
                  </a:tcPr>
                </a:tc>
                <a:extLst>
                  <a:ext uri="{0D108BD9-81ED-4DB2-BD59-A6C34878D82A}">
                    <a16:rowId xmlns:a16="http://schemas.microsoft.com/office/drawing/2014/main" val="10004"/>
                  </a:ext>
                </a:extLst>
              </a:tr>
              <a:tr h="470262">
                <a:tc>
                  <a:txBody>
                    <a:bodyPr/>
                    <a:lstStyle/>
                    <a:p>
                      <a:pPr algn="l"/>
                      <a:r>
                        <a:rPr sz="1250">
                          <a:solidFill>
                            <a:srgbClr val="222B33"/>
                          </a:solidFill>
                          <a:latin typeface="Calibri"/>
                        </a:rPr>
                        <a:t>Débit local</a:t>
                      </a:r>
                    </a:p>
                  </a:txBody>
                  <a:tcPr anchor="ctr">
                    <a:solidFill>
                      <a:srgbClr val="E9EFF0"/>
                    </a:solidFill>
                  </a:tcPr>
                </a:tc>
                <a:tc>
                  <a:txBody>
                    <a:bodyPr/>
                    <a:lstStyle/>
                    <a:p>
                      <a:pPr algn="ctr"/>
                      <a:r>
                        <a:rPr sz="1250">
                          <a:solidFill>
                            <a:srgbClr val="222B33"/>
                          </a:solidFill>
                          <a:latin typeface="Calibri"/>
                        </a:rPr>
                        <a:t>si le locuteur parle vite, tout est court</a:t>
                      </a:r>
                    </a:p>
                  </a:txBody>
                  <a:tcPr anchor="ctr">
                    <a:solidFill>
                      <a:srgbClr val="E9EFF0"/>
                    </a:solidFill>
                  </a:tcPr>
                </a:tc>
                <a:extLst>
                  <a:ext uri="{0D108BD9-81ED-4DB2-BD59-A6C34878D82A}">
                    <a16:rowId xmlns:a16="http://schemas.microsoft.com/office/drawing/2014/main" val="10005"/>
                  </a:ext>
                </a:extLst>
              </a:tr>
              <a:tr h="470268">
                <a:tc>
                  <a:txBody>
                    <a:bodyPr/>
                    <a:lstStyle/>
                    <a:p>
                      <a:pPr algn="l"/>
                      <a:r>
                        <a:rPr sz="1250">
                          <a:solidFill>
                            <a:srgbClr val="222B33"/>
                          </a:solidFill>
                          <a:latin typeface="Calibri"/>
                        </a:rPr>
                        <a:t>Locuteur</a:t>
                      </a:r>
                    </a:p>
                  </a:txBody>
                  <a:tcPr anchor="ctr">
                    <a:solidFill>
                      <a:srgbClr val="FFFFFF"/>
                    </a:solidFill>
                  </a:tcPr>
                </a:tc>
                <a:tc>
                  <a:txBody>
                    <a:bodyPr/>
                    <a:lstStyle/>
                    <a:p>
                      <a:pPr algn="ctr"/>
                      <a:r>
                        <a:rPr sz="1250">
                          <a:solidFill>
                            <a:srgbClr val="222B33"/>
                          </a:solidFill>
                          <a:latin typeface="Calibri"/>
                        </a:rPr>
                        <a:t>certains parlent lentement par nature</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26" name="Rounded Rectangle 25"/>
          <p:cNvSpPr/>
          <p:nvPr/>
        </p:nvSpPr>
        <p:spPr>
          <a:xfrm>
            <a:off x="1417320" y="512064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12064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26694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Chaque contrôle vient de la littérature. Ce qui reste après leur retrait, c'est l'effet propre de la surprise.</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RÉSULTAT 1 : LE LIEN BRUT NE DÉPARTAGE RIEN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Résultats, parole lue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809637" y="1453896"/>
            <a:ext cx="9595634" cy="38039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mp_lu_brut.png"/>
          <p:cNvPicPr>
            <a:picLocks noChangeAspect="1"/>
          </p:cNvPicPr>
          <p:nvPr/>
        </p:nvPicPr>
        <p:blipFill>
          <a:blip r:embed="rId4"/>
          <a:stretch>
            <a:fillRect/>
          </a:stretch>
        </p:blipFill>
        <p:spPr>
          <a:xfrm>
            <a:off x="1955941" y="1572768"/>
            <a:ext cx="9303026" cy="3566160"/>
          </a:xfrm>
          <a:prstGeom prst="rect">
            <a:avLst/>
          </a:prstGeom>
        </p:spPr>
      </p:pic>
      <p:sp>
        <p:nvSpPr>
          <p:cNvPr id="25" name="Rounded Rectangle 24"/>
          <p:cNvSpPr/>
          <p:nvPr/>
        </p:nvSpPr>
        <p:spPr>
          <a:xfrm>
            <a:off x="1417320" y="5596128"/>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417320" y="5596128"/>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64208" y="5742432"/>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Les deux mesures montent. Mais la durée brute additionne surprise, longueur et fréquence.</a:t>
            </a:r>
          </a:p>
        </p:txBody>
      </p:sp>
      <p:sp>
        <p:nvSpPr>
          <p:cNvPr id="28" name="TextBox 27"/>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RÉSULTAT 2 : APRÈS CONTRÔLE, TOUT CHANGE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Résultats, parole lue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2704159" y="1344168"/>
            <a:ext cx="7806590" cy="31181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mp_lu_rouge.png"/>
          <p:cNvPicPr>
            <a:picLocks noChangeAspect="1"/>
          </p:cNvPicPr>
          <p:nvPr/>
        </p:nvPicPr>
        <p:blipFill>
          <a:blip r:embed="rId4"/>
          <a:stretch>
            <a:fillRect/>
          </a:stretch>
        </p:blipFill>
        <p:spPr>
          <a:xfrm>
            <a:off x="2850463" y="1463040"/>
            <a:ext cx="7513982" cy="2880360"/>
          </a:xfrm>
          <a:prstGeom prst="rect">
            <a:avLst/>
          </a:prstGeom>
        </p:spPr>
      </p:pic>
      <p:graphicFrame>
        <p:nvGraphicFramePr>
          <p:cNvPr id="25" name="Table 24"/>
          <p:cNvGraphicFramePr>
            <a:graphicFrameLocks noGrp="1"/>
          </p:cNvGraphicFramePr>
          <p:nvPr/>
        </p:nvGraphicFramePr>
        <p:xfrm>
          <a:off x="3200400" y="4572000"/>
          <a:ext cx="5852160" cy="1066800"/>
        </p:xfrm>
        <a:graphic>
          <a:graphicData uri="http://schemas.openxmlformats.org/drawingml/2006/table">
            <a:tbl>
              <a:tblPr firstRow="1" bandRow="1">
                <a:tableStyleId>{5C22544A-7EE6-4342-B048-85BDC9FD1C3A}</a:tableStyleId>
              </a:tblPr>
              <a:tblGrid>
                <a:gridCol w="195072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tblGrid>
              <a:tr h="274320">
                <a:tc>
                  <a:txBody>
                    <a:bodyPr/>
                    <a:lstStyle/>
                    <a:p>
                      <a:pPr algn="ctr"/>
                      <a:r>
                        <a:rPr sz="1300" b="1">
                          <a:solidFill>
                            <a:srgbClr val="FFFFFF"/>
                          </a:solidFill>
                          <a:latin typeface="Calibri"/>
                        </a:rPr>
                        <a:t>Parole lue, à contrôles constants</a:t>
                      </a:r>
                    </a:p>
                  </a:txBody>
                  <a:tcPr anchor="ctr">
                    <a:solidFill>
                      <a:srgbClr val="1B4A56"/>
                    </a:solidFill>
                  </a:tcPr>
                </a:tc>
                <a:tc>
                  <a:txBody>
                    <a:bodyPr/>
                    <a:lstStyle/>
                    <a:p>
                      <a:pPr algn="ctr"/>
                      <a:r>
                        <a:rPr sz="1300" b="1">
                          <a:solidFill>
                            <a:srgbClr val="FFFFFF"/>
                          </a:solidFill>
                          <a:latin typeface="Calibri"/>
                        </a:rPr>
                        <a:t>Coefficient</a:t>
                      </a:r>
                    </a:p>
                  </a:txBody>
                  <a:tcPr anchor="ctr">
                    <a:solidFill>
                      <a:srgbClr val="1B4A56"/>
                    </a:solidFill>
                  </a:tcPr>
                </a:tc>
                <a:tc>
                  <a:txBody>
                    <a:bodyPr/>
                    <a:lstStyle/>
                    <a:p>
                      <a:pPr algn="ctr"/>
                      <a:r>
                        <a:rPr sz="1300" b="1">
                          <a:solidFill>
                            <a:srgbClr val="FFFFFF"/>
                          </a:solidFill>
                          <a:latin typeface="Calibri"/>
                        </a:rPr>
                        <a:t>p</a:t>
                      </a:r>
                    </a:p>
                  </a:txBody>
                  <a:tcPr anchor="ctr">
                    <a:solidFill>
                      <a:srgbClr val="1B4A56"/>
                    </a:solidFill>
                  </a:tcPr>
                </a:tc>
                <a:extLst>
                  <a:ext uri="{0D108BD9-81ED-4DB2-BD59-A6C34878D82A}">
                    <a16:rowId xmlns:a16="http://schemas.microsoft.com/office/drawing/2014/main" val="10000"/>
                  </a:ext>
                </a:extLst>
              </a:tr>
              <a:tr h="274320">
                <a:tc>
                  <a:txBody>
                    <a:bodyPr/>
                    <a:lstStyle/>
                    <a:p>
                      <a:pPr algn="l"/>
                      <a:r>
                        <a:rPr sz="1300">
                          <a:solidFill>
                            <a:srgbClr val="222B33"/>
                          </a:solidFill>
                          <a:latin typeface="Calibri"/>
                        </a:rPr>
                        <a:t>Surprise syntaxique</a:t>
                      </a:r>
                    </a:p>
                  </a:txBody>
                  <a:tcPr anchor="ctr">
                    <a:solidFill>
                      <a:srgbClr val="E9EFF0"/>
                    </a:solidFill>
                  </a:tcPr>
                </a:tc>
                <a:tc>
                  <a:txBody>
                    <a:bodyPr/>
                    <a:lstStyle/>
                    <a:p>
                      <a:pPr algn="ctr"/>
                      <a:r>
                        <a:rPr sz="1300">
                          <a:solidFill>
                            <a:srgbClr val="222B33"/>
                          </a:solidFill>
                          <a:latin typeface="Calibri"/>
                        </a:rPr>
                        <a:t>+0,00168</a:t>
                      </a:r>
                    </a:p>
                  </a:txBody>
                  <a:tcPr anchor="ctr">
                    <a:solidFill>
                      <a:srgbClr val="E9EFF0"/>
                    </a:solidFill>
                  </a:tcPr>
                </a:tc>
                <a:tc>
                  <a:txBody>
                    <a:bodyPr/>
                    <a:lstStyle/>
                    <a:p>
                      <a:pPr algn="ctr"/>
                      <a:r>
                        <a:rPr sz="1300">
                          <a:solidFill>
                            <a:srgbClr val="222B33"/>
                          </a:solidFill>
                          <a:latin typeface="Calibri"/>
                        </a:rPr>
                        <a:t>4·10⁻¹⁰</a:t>
                      </a:r>
                    </a:p>
                  </a:txBody>
                  <a:tcPr anchor="ctr">
                    <a:solidFill>
                      <a:srgbClr val="E9EFF0"/>
                    </a:solidFill>
                  </a:tcPr>
                </a:tc>
                <a:extLst>
                  <a:ext uri="{0D108BD9-81ED-4DB2-BD59-A6C34878D82A}">
                    <a16:rowId xmlns:a16="http://schemas.microsoft.com/office/drawing/2014/main" val="10001"/>
                  </a:ext>
                </a:extLst>
              </a:tr>
              <a:tr h="274320">
                <a:tc>
                  <a:txBody>
                    <a:bodyPr/>
                    <a:lstStyle/>
                    <a:p>
                      <a:pPr algn="l"/>
                      <a:r>
                        <a:rPr sz="1300">
                          <a:solidFill>
                            <a:srgbClr val="222B33"/>
                          </a:solidFill>
                          <a:latin typeface="Calibri"/>
                        </a:rPr>
                        <a:t>Surprise LLM</a:t>
                      </a:r>
                    </a:p>
                  </a:txBody>
                  <a:tcPr anchor="ctr">
                    <a:solidFill>
                      <a:srgbClr val="FFFFFF"/>
                    </a:solidFill>
                  </a:tcPr>
                </a:tc>
                <a:tc>
                  <a:txBody>
                    <a:bodyPr/>
                    <a:lstStyle/>
                    <a:p>
                      <a:pPr algn="ctr"/>
                      <a:r>
                        <a:rPr sz="1300">
                          <a:solidFill>
                            <a:srgbClr val="222B33"/>
                          </a:solidFill>
                          <a:latin typeface="Calibri"/>
                        </a:rPr>
                        <a:t>−0,00022</a:t>
                      </a:r>
                    </a:p>
                  </a:txBody>
                  <a:tcPr anchor="ctr">
                    <a:solidFill>
                      <a:srgbClr val="FFFFFF"/>
                    </a:solidFill>
                  </a:tcPr>
                </a:tc>
                <a:tc>
                  <a:txBody>
                    <a:bodyPr/>
                    <a:lstStyle/>
                    <a:p>
                      <a:pPr algn="ctr"/>
                      <a:r>
                        <a:rPr sz="1300">
                          <a:solidFill>
                            <a:srgbClr val="222B33"/>
                          </a:solidFill>
                          <a:latin typeface="Calibri"/>
                        </a:rPr>
                        <a:t>0,27  (nul)</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26" name="Rounded Rectangle 25"/>
          <p:cNvSpPr/>
          <p:nvPr/>
        </p:nvSpPr>
        <p:spPr>
          <a:xfrm>
            <a:off x="1417320" y="566928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66928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81558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L'effet de Demberg est retrouvé. La surprise LLM n'a plus aucun effet.</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RÉSULTAT 3 : LA PAROLE SPONTANÉE CONFIRME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Résultats, AMI</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2704159" y="1344168"/>
            <a:ext cx="7806590" cy="311810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mp_ami_rouge.png"/>
          <p:cNvPicPr>
            <a:picLocks noChangeAspect="1"/>
          </p:cNvPicPr>
          <p:nvPr/>
        </p:nvPicPr>
        <p:blipFill>
          <a:blip r:embed="rId4"/>
          <a:stretch>
            <a:fillRect/>
          </a:stretch>
        </p:blipFill>
        <p:spPr>
          <a:xfrm>
            <a:off x="2850463" y="1463040"/>
            <a:ext cx="7513982" cy="2880360"/>
          </a:xfrm>
          <a:prstGeom prst="rect">
            <a:avLst/>
          </a:prstGeom>
        </p:spPr>
      </p:pic>
      <p:graphicFrame>
        <p:nvGraphicFramePr>
          <p:cNvPr id="25" name="Table 24"/>
          <p:cNvGraphicFramePr>
            <a:graphicFrameLocks noGrp="1"/>
          </p:cNvGraphicFramePr>
          <p:nvPr/>
        </p:nvGraphicFramePr>
        <p:xfrm>
          <a:off x="2926080" y="4572000"/>
          <a:ext cx="6400800" cy="10668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274320">
                <a:tc>
                  <a:txBody>
                    <a:bodyPr/>
                    <a:lstStyle/>
                    <a:p>
                      <a:pPr algn="ctr"/>
                      <a:r>
                        <a:rPr sz="1300" b="1">
                          <a:solidFill>
                            <a:srgbClr val="FFFFFF"/>
                          </a:solidFill>
                          <a:latin typeface="Calibri"/>
                        </a:rPr>
                        <a:t>AMI, 12 réunions appariées, modèle mixte</a:t>
                      </a:r>
                    </a:p>
                  </a:txBody>
                  <a:tcPr anchor="ctr">
                    <a:solidFill>
                      <a:srgbClr val="1B4A56"/>
                    </a:solidFill>
                  </a:tcPr>
                </a:tc>
                <a:tc>
                  <a:txBody>
                    <a:bodyPr/>
                    <a:lstStyle/>
                    <a:p>
                      <a:pPr algn="ctr"/>
                      <a:r>
                        <a:rPr sz="1300" b="1">
                          <a:solidFill>
                            <a:srgbClr val="FFFFFF"/>
                          </a:solidFill>
                          <a:latin typeface="Calibri"/>
                        </a:rPr>
                        <a:t>Coefficient</a:t>
                      </a:r>
                    </a:p>
                  </a:txBody>
                  <a:tcPr anchor="ctr">
                    <a:solidFill>
                      <a:srgbClr val="1B4A56"/>
                    </a:solidFill>
                  </a:tcPr>
                </a:tc>
                <a:tc>
                  <a:txBody>
                    <a:bodyPr/>
                    <a:lstStyle/>
                    <a:p>
                      <a:pPr algn="ctr"/>
                      <a:r>
                        <a:rPr sz="1300" b="1">
                          <a:solidFill>
                            <a:srgbClr val="FFFFFF"/>
                          </a:solidFill>
                          <a:latin typeface="Calibri"/>
                        </a:rPr>
                        <a:t>p</a:t>
                      </a:r>
                    </a:p>
                  </a:txBody>
                  <a:tcPr anchor="ctr">
                    <a:solidFill>
                      <a:srgbClr val="1B4A56"/>
                    </a:solidFill>
                  </a:tcPr>
                </a:tc>
                <a:extLst>
                  <a:ext uri="{0D108BD9-81ED-4DB2-BD59-A6C34878D82A}">
                    <a16:rowId xmlns:a16="http://schemas.microsoft.com/office/drawing/2014/main" val="10000"/>
                  </a:ext>
                </a:extLst>
              </a:tr>
              <a:tr h="274320">
                <a:tc>
                  <a:txBody>
                    <a:bodyPr/>
                    <a:lstStyle/>
                    <a:p>
                      <a:pPr algn="l"/>
                      <a:r>
                        <a:rPr sz="1300">
                          <a:solidFill>
                            <a:srgbClr val="222B33"/>
                          </a:solidFill>
                          <a:latin typeface="Calibri"/>
                        </a:rPr>
                        <a:t>Surprise syntaxique</a:t>
                      </a:r>
                    </a:p>
                  </a:txBody>
                  <a:tcPr anchor="ctr">
                    <a:solidFill>
                      <a:srgbClr val="E9EFF0"/>
                    </a:solidFill>
                  </a:tcPr>
                </a:tc>
                <a:tc>
                  <a:txBody>
                    <a:bodyPr/>
                    <a:lstStyle/>
                    <a:p>
                      <a:pPr algn="ctr"/>
                      <a:r>
                        <a:rPr sz="1300">
                          <a:solidFill>
                            <a:srgbClr val="222B33"/>
                          </a:solidFill>
                          <a:latin typeface="Calibri"/>
                        </a:rPr>
                        <a:t>+0,00077</a:t>
                      </a:r>
                    </a:p>
                  </a:txBody>
                  <a:tcPr anchor="ctr">
                    <a:solidFill>
                      <a:srgbClr val="E9EFF0"/>
                    </a:solidFill>
                  </a:tcPr>
                </a:tc>
                <a:tc>
                  <a:txBody>
                    <a:bodyPr/>
                    <a:lstStyle/>
                    <a:p>
                      <a:pPr algn="ctr"/>
                      <a:r>
                        <a:rPr sz="1300">
                          <a:solidFill>
                            <a:srgbClr val="222B33"/>
                          </a:solidFill>
                          <a:latin typeface="Calibri"/>
                        </a:rPr>
                        <a:t>0,028</a:t>
                      </a:r>
                    </a:p>
                  </a:txBody>
                  <a:tcPr anchor="ctr">
                    <a:solidFill>
                      <a:srgbClr val="E9EFF0"/>
                    </a:solidFill>
                  </a:tcPr>
                </a:tc>
                <a:extLst>
                  <a:ext uri="{0D108BD9-81ED-4DB2-BD59-A6C34878D82A}">
                    <a16:rowId xmlns:a16="http://schemas.microsoft.com/office/drawing/2014/main" val="10001"/>
                  </a:ext>
                </a:extLst>
              </a:tr>
              <a:tr h="274320">
                <a:tc>
                  <a:txBody>
                    <a:bodyPr/>
                    <a:lstStyle/>
                    <a:p>
                      <a:pPr algn="l"/>
                      <a:r>
                        <a:rPr sz="1300">
                          <a:solidFill>
                            <a:srgbClr val="222B33"/>
                          </a:solidFill>
                          <a:latin typeface="Calibri"/>
                        </a:rPr>
                        <a:t>Surprise LLM</a:t>
                      </a:r>
                    </a:p>
                  </a:txBody>
                  <a:tcPr anchor="ctr">
                    <a:solidFill>
                      <a:srgbClr val="FFFFFF"/>
                    </a:solidFill>
                  </a:tcPr>
                </a:tc>
                <a:tc>
                  <a:txBody>
                    <a:bodyPr/>
                    <a:lstStyle/>
                    <a:p>
                      <a:pPr algn="ctr"/>
                      <a:r>
                        <a:rPr sz="1300">
                          <a:solidFill>
                            <a:srgbClr val="222B33"/>
                          </a:solidFill>
                          <a:latin typeface="Calibri"/>
                        </a:rPr>
                        <a:t>−0,00179</a:t>
                      </a:r>
                    </a:p>
                  </a:txBody>
                  <a:tcPr anchor="ctr">
                    <a:solidFill>
                      <a:srgbClr val="FFFFFF"/>
                    </a:solidFill>
                  </a:tcPr>
                </a:tc>
                <a:tc>
                  <a:txBody>
                    <a:bodyPr/>
                    <a:lstStyle/>
                    <a:p>
                      <a:pPr algn="ctr"/>
                      <a:r>
                        <a:rPr sz="1300">
                          <a:solidFill>
                            <a:srgbClr val="222B33"/>
                          </a:solidFill>
                          <a:latin typeface="Calibri"/>
                        </a:rPr>
                        <a:t>10⁻¹³  (artefact)</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26" name="Rounded Rectangle 25"/>
          <p:cNvSpPr/>
          <p:nvPr/>
        </p:nvSpPr>
        <p:spPr>
          <a:xfrm>
            <a:off x="1417320" y="566928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66928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81558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L'effet syntaxique tient sur du spontané. Le négatif du LLM n'a aucun sens cognitif.</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L'OBJECTION QUI MENACE LA CONCLUSION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Le retournement</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463040"/>
            <a:ext cx="10254082" cy="713232"/>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91640" y="1645920"/>
            <a:ext cx="9705442" cy="457200"/>
          </a:xfrm>
          <a:prstGeom prst="rect">
            <a:avLst/>
          </a:prstGeom>
          <a:noFill/>
        </p:spPr>
        <p:txBody>
          <a:bodyPr wrap="square" lIns="0" tIns="0" rIns="0" bIns="0">
            <a:spAutoFit/>
          </a:bodyPr>
          <a:lstStyle/>
          <a:p>
            <a:pPr algn="ctr">
              <a:lnSpc>
                <a:spcPct val="120000"/>
              </a:lnSpc>
            </a:pPr>
            <a:r>
              <a:rPr sz="1700" b="1" i="0">
                <a:solidFill>
                  <a:srgbClr val="B55D29"/>
                </a:solidFill>
                <a:latin typeface="Calibri"/>
              </a:rPr>
              <a:t>Les DEUX surprises suivent la fréquence. Pourquoi une seule survit-elle ?</a:t>
            </a:r>
          </a:p>
        </p:txBody>
      </p:sp>
      <p:sp>
        <p:nvSpPr>
          <p:cNvPr id="25" name="Rounded Rectangle 24"/>
          <p:cNvSpPr/>
          <p:nvPr/>
        </p:nvSpPr>
        <p:spPr>
          <a:xfrm>
            <a:off x="2917850" y="2304288"/>
            <a:ext cx="7379208" cy="307238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freq_corr_lu.png"/>
          <p:cNvPicPr>
            <a:picLocks noChangeAspect="1"/>
          </p:cNvPicPr>
          <p:nvPr/>
        </p:nvPicPr>
        <p:blipFill>
          <a:blip r:embed="rId4"/>
          <a:stretch>
            <a:fillRect/>
          </a:stretch>
        </p:blipFill>
        <p:spPr>
          <a:xfrm>
            <a:off x="3064154" y="2423160"/>
            <a:ext cx="7086600" cy="2834640"/>
          </a:xfrm>
          <a:prstGeom prst="rect">
            <a:avLst/>
          </a:prstGeom>
        </p:spPr>
      </p:pic>
      <p:sp>
        <p:nvSpPr>
          <p:cNvPr id="27" name="Rounded Rectangle 26"/>
          <p:cNvSpPr/>
          <p:nvPr/>
        </p:nvSpPr>
        <p:spPr>
          <a:xfrm>
            <a:off x="1417320" y="5596128"/>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417320" y="5596128"/>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64208" y="5742432"/>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À droite, la fréquence suffit presque à deviner la surprise LLM. À gauche, il reste de l'information qu'elle n'explique pas.</a:t>
            </a:r>
          </a:p>
        </p:txBody>
      </p:sp>
      <p:sp>
        <p:nvSpPr>
          <p:cNvPr id="30" name="TextBox 29"/>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LA RÉPONSE : LE RÔLE SPÉCIFIQUE DE LA FRÉQUENCE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Résultat central</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2377440" y="1371600"/>
            <a:ext cx="7863840" cy="713232"/>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14600" y="1554480"/>
            <a:ext cx="7589520" cy="411480"/>
          </a:xfrm>
          <a:prstGeom prst="rect">
            <a:avLst/>
          </a:prstGeom>
          <a:noFill/>
        </p:spPr>
        <p:txBody>
          <a:bodyPr wrap="square" lIns="0" tIns="0" rIns="0" bIns="0">
            <a:spAutoFit/>
          </a:bodyPr>
          <a:lstStyle/>
          <a:p>
            <a:pPr algn="ctr">
              <a:lnSpc>
                <a:spcPct val="120000"/>
              </a:lnSpc>
            </a:pPr>
            <a:r>
              <a:rPr sz="1600" b="1" i="0">
                <a:solidFill>
                  <a:srgbClr val="123D33"/>
                </a:solidFill>
                <a:latin typeface="Calibri"/>
              </a:rPr>
              <a:t>EXTRA = r(durée, surprise) − [ r(surprise, fréquence) × r(durée, fréquence) ]</a:t>
            </a:r>
          </a:p>
        </p:txBody>
      </p:sp>
      <p:sp>
        <p:nvSpPr>
          <p:cNvPr id="25" name="Rounded Rectangle 24"/>
          <p:cNvSpPr/>
          <p:nvPr/>
        </p:nvSpPr>
        <p:spPr>
          <a:xfrm>
            <a:off x="2363550" y="2231136"/>
            <a:ext cx="7878741" cy="3163824"/>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fig_extra.png"/>
          <p:cNvPicPr>
            <a:picLocks noChangeAspect="1"/>
          </p:cNvPicPr>
          <p:nvPr/>
        </p:nvPicPr>
        <p:blipFill>
          <a:blip r:embed="rId4"/>
          <a:stretch>
            <a:fillRect/>
          </a:stretch>
        </p:blipFill>
        <p:spPr>
          <a:xfrm>
            <a:off x="2517987" y="2304288"/>
            <a:ext cx="7586133" cy="2926080"/>
          </a:xfrm>
          <a:prstGeom prst="rect">
            <a:avLst/>
          </a:prstGeom>
        </p:spPr>
      </p:pic>
      <p:sp>
        <p:nvSpPr>
          <p:cNvPr id="27" name="Rounded Rectangle 26"/>
          <p:cNvSpPr/>
          <p:nvPr/>
        </p:nvSpPr>
        <p:spPr>
          <a:xfrm>
            <a:off x="1417320" y="5596128"/>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417320" y="5596128"/>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64208" y="5742432"/>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 signe de l'EXTRA prédit celui du coefficient contrôlé, dans les quatre cas. Ce qui, dans la surprise LLM, prédisait la durée, c'était la fréquence.</a:t>
            </a:r>
          </a:p>
        </p:txBody>
      </p:sp>
      <p:sp>
        <p:nvSpPr>
          <p:cNvPr id="30" name="TextBox 29"/>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CONTRÔLE DEMANDÉ APRÈS LE RAPPORT : LE DÉCILE SUPÉRIEUR</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Août</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TextBox 22"/>
          <p:cNvSpPr txBox="1"/>
          <p:nvPr/>
        </p:nvSpPr>
        <p:spPr>
          <a:xfrm>
            <a:off x="1417320" y="1554480"/>
            <a:ext cx="10058400" cy="45720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Refaire les figures sans le décile de surprise le plus élevé. Ce n'est pas un point isolé : 10 % des données, 1 142 mots.</a:t>
            </a:r>
          </a:p>
        </p:txBody>
      </p:sp>
      <p:graphicFrame>
        <p:nvGraphicFramePr>
          <p:cNvPr id="24" name="Table 23"/>
          <p:cNvGraphicFramePr>
            <a:graphicFrameLocks noGrp="1"/>
          </p:cNvGraphicFramePr>
          <p:nvPr/>
        </p:nvGraphicFramePr>
        <p:xfrm>
          <a:off x="1828800" y="2286000"/>
          <a:ext cx="8503920" cy="192024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384048">
                <a:tc>
                  <a:txBody>
                    <a:bodyPr/>
                    <a:lstStyle/>
                    <a:p>
                      <a:pPr algn="ctr"/>
                      <a:r>
                        <a:rPr sz="1400" b="1">
                          <a:solidFill>
                            <a:srgbClr val="FFFFFF"/>
                          </a:solidFill>
                          <a:latin typeface="Calibri"/>
                        </a:rPr>
                        <a:t>Cas</a:t>
                      </a:r>
                    </a:p>
                  </a:txBody>
                  <a:tcPr anchor="ctr">
                    <a:solidFill>
                      <a:srgbClr val="1B4A56"/>
                    </a:solidFill>
                  </a:tcPr>
                </a:tc>
                <a:tc>
                  <a:txBody>
                    <a:bodyPr/>
                    <a:lstStyle/>
                    <a:p>
                      <a:pPr algn="ctr"/>
                      <a:r>
                        <a:rPr sz="1400" b="1">
                          <a:solidFill>
                            <a:srgbClr val="FFFFFF"/>
                          </a:solidFill>
                          <a:latin typeface="Calibri"/>
                        </a:rPr>
                        <a:t>Tous les mots</a:t>
                      </a:r>
                    </a:p>
                  </a:txBody>
                  <a:tcPr anchor="ctr">
                    <a:solidFill>
                      <a:srgbClr val="1B4A56"/>
                    </a:solidFill>
                  </a:tcPr>
                </a:tc>
                <a:tc>
                  <a:txBody>
                    <a:bodyPr/>
                    <a:lstStyle/>
                    <a:p>
                      <a:pPr algn="ctr"/>
                      <a:r>
                        <a:rPr sz="1400" b="1">
                          <a:solidFill>
                            <a:srgbClr val="FFFFFF"/>
                          </a:solidFill>
                          <a:latin typeface="Calibri"/>
                        </a:rPr>
                        <a:t>Sans le décile 10</a:t>
                      </a:r>
                    </a:p>
                  </a:txBody>
                  <a:tcPr anchor="ctr">
                    <a:solidFill>
                      <a:srgbClr val="1B4A56"/>
                    </a:solidFill>
                  </a:tcPr>
                </a:tc>
                <a:tc>
                  <a:txBody>
                    <a:bodyPr/>
                    <a:lstStyle/>
                    <a:p>
                      <a:pPr algn="ctr"/>
                      <a:r>
                        <a:rPr sz="1400" b="1">
                          <a:solidFill>
                            <a:srgbClr val="FFFFFF"/>
                          </a:solidFill>
                          <a:latin typeface="Calibri"/>
                        </a:rPr>
                        <a:t>Signe</a:t>
                      </a:r>
                    </a:p>
                  </a:txBody>
                  <a:tcPr anchor="ctr">
                    <a:solidFill>
                      <a:srgbClr val="1B4A56"/>
                    </a:solidFill>
                  </a:tcPr>
                </a:tc>
                <a:extLst>
                  <a:ext uri="{0D108BD9-81ED-4DB2-BD59-A6C34878D82A}">
                    <a16:rowId xmlns:a16="http://schemas.microsoft.com/office/drawing/2014/main" val="10000"/>
                  </a:ext>
                </a:extLst>
              </a:tr>
              <a:tr h="384048">
                <a:tc>
                  <a:txBody>
                    <a:bodyPr/>
                    <a:lstStyle/>
                    <a:p>
                      <a:pPr algn="l"/>
                      <a:r>
                        <a:rPr sz="1400">
                          <a:solidFill>
                            <a:srgbClr val="222B33"/>
                          </a:solidFill>
                          <a:latin typeface="Calibri"/>
                        </a:rPr>
                        <a:t>Syntaxique, parole lue</a:t>
                      </a:r>
                    </a:p>
                  </a:txBody>
                  <a:tcPr anchor="ctr">
                    <a:solidFill>
                      <a:srgbClr val="E9EFF0"/>
                    </a:solidFill>
                  </a:tcPr>
                </a:tc>
                <a:tc>
                  <a:txBody>
                    <a:bodyPr/>
                    <a:lstStyle/>
                    <a:p>
                      <a:pPr algn="ctr"/>
                      <a:r>
                        <a:rPr sz="1400">
                          <a:solidFill>
                            <a:srgbClr val="222B33"/>
                          </a:solidFill>
                          <a:latin typeface="Calibri"/>
                        </a:rPr>
                        <a:t>+0,00168</a:t>
                      </a:r>
                    </a:p>
                  </a:txBody>
                  <a:tcPr anchor="ctr">
                    <a:solidFill>
                      <a:srgbClr val="E9EFF0"/>
                    </a:solidFill>
                  </a:tcPr>
                </a:tc>
                <a:tc>
                  <a:txBody>
                    <a:bodyPr/>
                    <a:lstStyle/>
                    <a:p>
                      <a:pPr algn="ctr"/>
                      <a:r>
                        <a:rPr sz="1400">
                          <a:solidFill>
                            <a:srgbClr val="222B33"/>
                          </a:solidFill>
                          <a:latin typeface="Calibri"/>
                        </a:rPr>
                        <a:t>+0,00295</a:t>
                      </a:r>
                    </a:p>
                  </a:txBody>
                  <a:tcPr anchor="ctr">
                    <a:solidFill>
                      <a:srgbClr val="E9EFF0"/>
                    </a:solidFill>
                  </a:tcPr>
                </a:tc>
                <a:tc>
                  <a:txBody>
                    <a:bodyPr/>
                    <a:lstStyle/>
                    <a:p>
                      <a:pPr algn="ctr"/>
                      <a:r>
                        <a:rPr sz="1400">
                          <a:solidFill>
                            <a:srgbClr val="222B33"/>
                          </a:solidFill>
                          <a:latin typeface="Calibri"/>
                        </a:rPr>
                        <a:t>inchangé</a:t>
                      </a:r>
                    </a:p>
                  </a:txBody>
                  <a:tcPr anchor="ctr">
                    <a:solidFill>
                      <a:srgbClr val="E9EFF0"/>
                    </a:solidFill>
                  </a:tcPr>
                </a:tc>
                <a:extLst>
                  <a:ext uri="{0D108BD9-81ED-4DB2-BD59-A6C34878D82A}">
                    <a16:rowId xmlns:a16="http://schemas.microsoft.com/office/drawing/2014/main" val="10001"/>
                  </a:ext>
                </a:extLst>
              </a:tr>
              <a:tr h="384048">
                <a:tc>
                  <a:txBody>
                    <a:bodyPr/>
                    <a:lstStyle/>
                    <a:p>
                      <a:pPr algn="l"/>
                      <a:r>
                        <a:rPr sz="1400">
                          <a:solidFill>
                            <a:srgbClr val="222B33"/>
                          </a:solidFill>
                          <a:latin typeface="Calibri"/>
                        </a:rPr>
                        <a:t>LLM, parole lue</a:t>
                      </a:r>
                    </a:p>
                  </a:txBody>
                  <a:tcPr anchor="ctr">
                    <a:solidFill>
                      <a:srgbClr val="FFFFFF"/>
                    </a:solidFill>
                  </a:tcPr>
                </a:tc>
                <a:tc>
                  <a:txBody>
                    <a:bodyPr/>
                    <a:lstStyle/>
                    <a:p>
                      <a:pPr algn="ctr"/>
                      <a:r>
                        <a:rPr sz="1400">
                          <a:solidFill>
                            <a:srgbClr val="222B33"/>
                          </a:solidFill>
                          <a:latin typeface="Calibri"/>
                        </a:rPr>
                        <a:t>−0,00022</a:t>
                      </a:r>
                    </a:p>
                  </a:txBody>
                  <a:tcPr anchor="ctr">
                    <a:solidFill>
                      <a:srgbClr val="FFFFFF"/>
                    </a:solidFill>
                  </a:tcPr>
                </a:tc>
                <a:tc>
                  <a:txBody>
                    <a:bodyPr/>
                    <a:lstStyle/>
                    <a:p>
                      <a:pPr algn="ctr"/>
                      <a:r>
                        <a:rPr sz="1400">
                          <a:solidFill>
                            <a:srgbClr val="222B33"/>
                          </a:solidFill>
                          <a:latin typeface="Calibri"/>
                        </a:rPr>
                        <a:t>+0,00049</a:t>
                      </a:r>
                    </a:p>
                  </a:txBody>
                  <a:tcPr anchor="ctr">
                    <a:solidFill>
                      <a:srgbClr val="FFFFFF"/>
                    </a:solidFill>
                  </a:tcPr>
                </a:tc>
                <a:tc>
                  <a:txBody>
                    <a:bodyPr/>
                    <a:lstStyle/>
                    <a:p>
                      <a:pPr algn="ctr"/>
                      <a:r>
                        <a:rPr sz="1400">
                          <a:solidFill>
                            <a:srgbClr val="222B33"/>
                          </a:solidFill>
                          <a:latin typeface="Calibri"/>
                        </a:rPr>
                        <a:t>INVERSÉ</a:t>
                      </a:r>
                    </a:p>
                  </a:txBody>
                  <a:tcPr anchor="ctr">
                    <a:solidFill>
                      <a:srgbClr val="FFFFFF"/>
                    </a:solidFill>
                  </a:tcPr>
                </a:tc>
                <a:extLst>
                  <a:ext uri="{0D108BD9-81ED-4DB2-BD59-A6C34878D82A}">
                    <a16:rowId xmlns:a16="http://schemas.microsoft.com/office/drawing/2014/main" val="10002"/>
                  </a:ext>
                </a:extLst>
              </a:tr>
              <a:tr h="384048">
                <a:tc>
                  <a:txBody>
                    <a:bodyPr/>
                    <a:lstStyle/>
                    <a:p>
                      <a:pPr algn="l"/>
                      <a:r>
                        <a:rPr sz="1400">
                          <a:solidFill>
                            <a:srgbClr val="222B33"/>
                          </a:solidFill>
                          <a:latin typeface="Calibri"/>
                        </a:rPr>
                        <a:t>Syntaxique, AMI</a:t>
                      </a:r>
                    </a:p>
                  </a:txBody>
                  <a:tcPr anchor="ctr">
                    <a:solidFill>
                      <a:srgbClr val="E9EFF0"/>
                    </a:solidFill>
                  </a:tcPr>
                </a:tc>
                <a:tc>
                  <a:txBody>
                    <a:bodyPr/>
                    <a:lstStyle/>
                    <a:p>
                      <a:pPr algn="ctr"/>
                      <a:r>
                        <a:rPr sz="1400">
                          <a:solidFill>
                            <a:srgbClr val="222B33"/>
                          </a:solidFill>
                          <a:latin typeface="Calibri"/>
                        </a:rPr>
                        <a:t>+0,00077</a:t>
                      </a:r>
                    </a:p>
                  </a:txBody>
                  <a:tcPr anchor="ctr">
                    <a:solidFill>
                      <a:srgbClr val="E9EFF0"/>
                    </a:solidFill>
                  </a:tcPr>
                </a:tc>
                <a:tc>
                  <a:txBody>
                    <a:bodyPr/>
                    <a:lstStyle/>
                    <a:p>
                      <a:pPr algn="ctr"/>
                      <a:r>
                        <a:rPr sz="1400">
                          <a:solidFill>
                            <a:srgbClr val="222B33"/>
                          </a:solidFill>
                          <a:latin typeface="Calibri"/>
                        </a:rPr>
                        <a:t>+0,00114</a:t>
                      </a:r>
                    </a:p>
                  </a:txBody>
                  <a:tcPr anchor="ctr">
                    <a:solidFill>
                      <a:srgbClr val="E9EFF0"/>
                    </a:solidFill>
                  </a:tcPr>
                </a:tc>
                <a:tc>
                  <a:txBody>
                    <a:bodyPr/>
                    <a:lstStyle/>
                    <a:p>
                      <a:pPr algn="ctr"/>
                      <a:r>
                        <a:rPr sz="1400">
                          <a:solidFill>
                            <a:srgbClr val="222B33"/>
                          </a:solidFill>
                          <a:latin typeface="Calibri"/>
                        </a:rPr>
                        <a:t>inchangé</a:t>
                      </a:r>
                    </a:p>
                  </a:txBody>
                  <a:tcPr anchor="ctr">
                    <a:solidFill>
                      <a:srgbClr val="E9EFF0"/>
                    </a:solidFill>
                  </a:tcPr>
                </a:tc>
                <a:extLst>
                  <a:ext uri="{0D108BD9-81ED-4DB2-BD59-A6C34878D82A}">
                    <a16:rowId xmlns:a16="http://schemas.microsoft.com/office/drawing/2014/main" val="10003"/>
                  </a:ext>
                </a:extLst>
              </a:tr>
              <a:tr h="384048">
                <a:tc>
                  <a:txBody>
                    <a:bodyPr/>
                    <a:lstStyle/>
                    <a:p>
                      <a:pPr algn="l"/>
                      <a:r>
                        <a:rPr sz="1400">
                          <a:solidFill>
                            <a:srgbClr val="222B33"/>
                          </a:solidFill>
                          <a:latin typeface="Calibri"/>
                        </a:rPr>
                        <a:t>LLM, AMI</a:t>
                      </a:r>
                    </a:p>
                  </a:txBody>
                  <a:tcPr anchor="ctr">
                    <a:solidFill>
                      <a:srgbClr val="FFFFFF"/>
                    </a:solidFill>
                  </a:tcPr>
                </a:tc>
                <a:tc>
                  <a:txBody>
                    <a:bodyPr/>
                    <a:lstStyle/>
                    <a:p>
                      <a:pPr algn="ctr"/>
                      <a:r>
                        <a:rPr sz="1400">
                          <a:solidFill>
                            <a:srgbClr val="222B33"/>
                          </a:solidFill>
                          <a:latin typeface="Calibri"/>
                        </a:rPr>
                        <a:t>−0,00179</a:t>
                      </a:r>
                    </a:p>
                  </a:txBody>
                  <a:tcPr anchor="ctr">
                    <a:solidFill>
                      <a:srgbClr val="FFFFFF"/>
                    </a:solidFill>
                  </a:tcPr>
                </a:tc>
                <a:tc>
                  <a:txBody>
                    <a:bodyPr/>
                    <a:lstStyle/>
                    <a:p>
                      <a:pPr algn="ctr"/>
                      <a:r>
                        <a:rPr sz="1400">
                          <a:solidFill>
                            <a:srgbClr val="222B33"/>
                          </a:solidFill>
                          <a:latin typeface="Calibri"/>
                        </a:rPr>
                        <a:t>−0,00212</a:t>
                      </a:r>
                    </a:p>
                  </a:txBody>
                  <a:tcPr anchor="ctr">
                    <a:solidFill>
                      <a:srgbClr val="FFFFFF"/>
                    </a:solidFill>
                  </a:tcPr>
                </a:tc>
                <a:tc>
                  <a:txBody>
                    <a:bodyPr/>
                    <a:lstStyle/>
                    <a:p>
                      <a:pPr algn="ctr"/>
                      <a:r>
                        <a:rPr sz="1400">
                          <a:solidFill>
                            <a:srgbClr val="222B33"/>
                          </a:solidFill>
                          <a:latin typeface="Calibri"/>
                        </a:rPr>
                        <a:t>inchangé</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25" name="Rounded Rectangle 24"/>
          <p:cNvSpPr/>
          <p:nvPr/>
        </p:nvSpPr>
        <p:spPr>
          <a:xfrm>
            <a:off x="1417320" y="480060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417320" y="480060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64208" y="494690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L'effet syntaxique se renforce. Sur AMI, le retrait aggrave le négatif du LLM : le décile n'est pas responsable, il est conservé.</a:t>
            </a:r>
          </a:p>
        </p:txBody>
      </p:sp>
      <p:sp>
        <p:nvSpPr>
          <p:cNvPr id="28" name="TextBox 27"/>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SYNTHÈSE DES RÉSULTATS</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Conclusion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graphicFrame>
        <p:nvGraphicFramePr>
          <p:cNvPr id="23" name="Table 22"/>
          <p:cNvGraphicFramePr>
            <a:graphicFrameLocks noGrp="1"/>
          </p:cNvGraphicFramePr>
          <p:nvPr>
            <p:extLst>
              <p:ext uri="{D42A27DB-BD31-4B8C-83A1-F6EECF244321}">
                <p14:modId xmlns:p14="http://schemas.microsoft.com/office/powerpoint/2010/main" val="55667151"/>
              </p:ext>
            </p:extLst>
          </p:nvPr>
        </p:nvGraphicFramePr>
        <p:xfrm>
          <a:off x="1737360" y="1645920"/>
          <a:ext cx="8686800" cy="210312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420624">
                <a:tc>
                  <a:txBody>
                    <a:bodyPr/>
                    <a:lstStyle/>
                    <a:p>
                      <a:pPr algn="ctr"/>
                      <a:r>
                        <a:rPr sz="1400" b="1">
                          <a:solidFill>
                            <a:srgbClr val="FFFFFF"/>
                          </a:solidFill>
                          <a:latin typeface="Calibri"/>
                        </a:rPr>
                        <a:t>À contrôles constants</a:t>
                      </a:r>
                    </a:p>
                  </a:txBody>
                  <a:tcPr anchor="ctr">
                    <a:solidFill>
                      <a:srgbClr val="1B4A56"/>
                    </a:solidFill>
                  </a:tcPr>
                </a:tc>
                <a:tc>
                  <a:txBody>
                    <a:bodyPr/>
                    <a:lstStyle/>
                    <a:p>
                      <a:pPr algn="ctr"/>
                      <a:r>
                        <a:rPr sz="1400" b="1">
                          <a:solidFill>
                            <a:srgbClr val="FFFFFF"/>
                          </a:solidFill>
                          <a:latin typeface="Calibri"/>
                        </a:rPr>
                        <a:t>Surprise syntaxique</a:t>
                      </a:r>
                    </a:p>
                  </a:txBody>
                  <a:tcPr anchor="ctr">
                    <a:solidFill>
                      <a:srgbClr val="1B4A56"/>
                    </a:solidFill>
                  </a:tcPr>
                </a:tc>
                <a:tc>
                  <a:txBody>
                    <a:bodyPr/>
                    <a:lstStyle/>
                    <a:p>
                      <a:pPr algn="ctr"/>
                      <a:r>
                        <a:rPr sz="1400" b="1">
                          <a:solidFill>
                            <a:srgbClr val="FFFFFF"/>
                          </a:solidFill>
                          <a:latin typeface="Calibri"/>
                        </a:rPr>
                        <a:t>Surprise LLM</a:t>
                      </a:r>
                    </a:p>
                  </a:txBody>
                  <a:tcPr anchor="ctr">
                    <a:solidFill>
                      <a:srgbClr val="1B4A56"/>
                    </a:solidFill>
                  </a:tcPr>
                </a:tc>
                <a:extLst>
                  <a:ext uri="{0D108BD9-81ED-4DB2-BD59-A6C34878D82A}">
                    <a16:rowId xmlns:a16="http://schemas.microsoft.com/office/drawing/2014/main" val="10000"/>
                  </a:ext>
                </a:extLst>
              </a:tr>
              <a:tr h="420624">
                <a:tc>
                  <a:txBody>
                    <a:bodyPr/>
                    <a:lstStyle/>
                    <a:p>
                      <a:pPr algn="l"/>
                      <a:r>
                        <a:rPr sz="1400">
                          <a:solidFill>
                            <a:srgbClr val="222B33"/>
                          </a:solidFill>
                          <a:latin typeface="Calibri"/>
                        </a:rPr>
                        <a:t>Parole lue</a:t>
                      </a:r>
                    </a:p>
                  </a:txBody>
                  <a:tcPr anchor="ctr">
                    <a:solidFill>
                      <a:srgbClr val="E9EFF0"/>
                    </a:solidFill>
                  </a:tcPr>
                </a:tc>
                <a:tc>
                  <a:txBody>
                    <a:bodyPr/>
                    <a:lstStyle/>
                    <a:p>
                      <a:pPr algn="ctr"/>
                      <a:r>
                        <a:rPr sz="1400">
                          <a:solidFill>
                            <a:srgbClr val="222B33"/>
                          </a:solidFill>
                          <a:latin typeface="Calibri"/>
                        </a:rPr>
                        <a:t>+0,00168   (p = 4·10⁻¹⁰)</a:t>
                      </a:r>
                    </a:p>
                  </a:txBody>
                  <a:tcPr anchor="ctr">
                    <a:solidFill>
                      <a:srgbClr val="E9EFF0"/>
                    </a:solidFill>
                  </a:tcPr>
                </a:tc>
                <a:tc>
                  <a:txBody>
                    <a:bodyPr/>
                    <a:lstStyle/>
                    <a:p>
                      <a:pPr algn="ctr"/>
                      <a:r>
                        <a:rPr sz="1400" dirty="0">
                          <a:solidFill>
                            <a:srgbClr val="222B33"/>
                          </a:solidFill>
                          <a:latin typeface="Calibri"/>
                        </a:rPr>
                        <a:t>−0,00022   (</a:t>
                      </a:r>
                      <a:r>
                        <a:rPr lang="fr-FR" sz="1400" dirty="0">
                          <a:solidFill>
                            <a:srgbClr val="222B33"/>
                          </a:solidFill>
                          <a:latin typeface="Calibri"/>
                        </a:rPr>
                        <a:t>presque </a:t>
                      </a:r>
                      <a:r>
                        <a:rPr sz="1400" dirty="0" err="1">
                          <a:solidFill>
                            <a:srgbClr val="222B33"/>
                          </a:solidFill>
                          <a:latin typeface="Calibri"/>
                        </a:rPr>
                        <a:t>nul</a:t>
                      </a:r>
                      <a:r>
                        <a:rPr sz="1400" dirty="0">
                          <a:solidFill>
                            <a:srgbClr val="222B33"/>
                          </a:solidFill>
                          <a:latin typeface="Calibri"/>
                        </a:rPr>
                        <a:t>)</a:t>
                      </a:r>
                    </a:p>
                  </a:txBody>
                  <a:tcPr anchor="ctr">
                    <a:solidFill>
                      <a:srgbClr val="E9EFF0"/>
                    </a:solidFill>
                  </a:tcPr>
                </a:tc>
                <a:extLst>
                  <a:ext uri="{0D108BD9-81ED-4DB2-BD59-A6C34878D82A}">
                    <a16:rowId xmlns:a16="http://schemas.microsoft.com/office/drawing/2014/main" val="10001"/>
                  </a:ext>
                </a:extLst>
              </a:tr>
              <a:tr h="420624">
                <a:tc>
                  <a:txBody>
                    <a:bodyPr/>
                    <a:lstStyle/>
                    <a:p>
                      <a:pPr algn="l"/>
                      <a:r>
                        <a:rPr sz="1400">
                          <a:solidFill>
                            <a:srgbClr val="222B33"/>
                          </a:solidFill>
                          <a:latin typeface="Calibri"/>
                        </a:rPr>
                        <a:t>Parole spontanée</a:t>
                      </a:r>
                    </a:p>
                  </a:txBody>
                  <a:tcPr anchor="ctr">
                    <a:solidFill>
                      <a:srgbClr val="FFFFFF"/>
                    </a:solidFill>
                  </a:tcPr>
                </a:tc>
                <a:tc>
                  <a:txBody>
                    <a:bodyPr/>
                    <a:lstStyle/>
                    <a:p>
                      <a:pPr algn="ctr"/>
                      <a:r>
                        <a:rPr sz="1400">
                          <a:solidFill>
                            <a:srgbClr val="222B33"/>
                          </a:solidFill>
                          <a:latin typeface="Calibri"/>
                        </a:rPr>
                        <a:t>+0,00077   (p = 0,028)</a:t>
                      </a:r>
                    </a:p>
                  </a:txBody>
                  <a:tcPr anchor="ctr">
                    <a:solidFill>
                      <a:srgbClr val="FFFFFF"/>
                    </a:solidFill>
                  </a:tcPr>
                </a:tc>
                <a:tc>
                  <a:txBody>
                    <a:bodyPr/>
                    <a:lstStyle/>
                    <a:p>
                      <a:pPr algn="ctr"/>
                      <a:r>
                        <a:rPr sz="1400">
                          <a:solidFill>
                            <a:srgbClr val="222B33"/>
                          </a:solidFill>
                          <a:latin typeface="Calibri"/>
                        </a:rPr>
                        <a:t>−0,00179   (artefact)</a:t>
                      </a:r>
                    </a:p>
                  </a:txBody>
                  <a:tcPr anchor="ctr">
                    <a:solidFill>
                      <a:srgbClr val="FFFFFF"/>
                    </a:solidFill>
                  </a:tcPr>
                </a:tc>
                <a:extLst>
                  <a:ext uri="{0D108BD9-81ED-4DB2-BD59-A6C34878D82A}">
                    <a16:rowId xmlns:a16="http://schemas.microsoft.com/office/drawing/2014/main" val="10002"/>
                  </a:ext>
                </a:extLst>
              </a:tr>
              <a:tr h="420624">
                <a:tc>
                  <a:txBody>
                    <a:bodyPr/>
                    <a:lstStyle/>
                    <a:p>
                      <a:pPr algn="l"/>
                      <a:r>
                        <a:rPr sz="1400">
                          <a:solidFill>
                            <a:srgbClr val="222B33"/>
                          </a:solidFill>
                          <a:latin typeface="Calibri"/>
                        </a:rPr>
                        <a:t>EXTRA, parole lue</a:t>
                      </a:r>
                    </a:p>
                  </a:txBody>
                  <a:tcPr anchor="ctr">
                    <a:solidFill>
                      <a:srgbClr val="E9EFF0"/>
                    </a:solidFill>
                  </a:tcPr>
                </a:tc>
                <a:tc>
                  <a:txBody>
                    <a:bodyPr/>
                    <a:lstStyle/>
                    <a:p>
                      <a:pPr algn="ctr"/>
                      <a:r>
                        <a:rPr sz="1400">
                          <a:solidFill>
                            <a:srgbClr val="222B33"/>
                          </a:solidFill>
                          <a:latin typeface="Calibri"/>
                        </a:rPr>
                        <a:t>+0,07</a:t>
                      </a:r>
                    </a:p>
                  </a:txBody>
                  <a:tcPr anchor="ctr">
                    <a:solidFill>
                      <a:srgbClr val="E9EFF0"/>
                    </a:solidFill>
                  </a:tcPr>
                </a:tc>
                <a:tc>
                  <a:txBody>
                    <a:bodyPr/>
                    <a:lstStyle/>
                    <a:p>
                      <a:pPr algn="ctr"/>
                      <a:r>
                        <a:rPr sz="1400">
                          <a:solidFill>
                            <a:srgbClr val="222B33"/>
                          </a:solidFill>
                          <a:latin typeface="Calibri"/>
                        </a:rPr>
                        <a:t>+0,01</a:t>
                      </a:r>
                    </a:p>
                  </a:txBody>
                  <a:tcPr anchor="ctr">
                    <a:solidFill>
                      <a:srgbClr val="E9EFF0"/>
                    </a:solidFill>
                  </a:tcPr>
                </a:tc>
                <a:extLst>
                  <a:ext uri="{0D108BD9-81ED-4DB2-BD59-A6C34878D82A}">
                    <a16:rowId xmlns:a16="http://schemas.microsoft.com/office/drawing/2014/main" val="10003"/>
                  </a:ext>
                </a:extLst>
              </a:tr>
              <a:tr h="420624">
                <a:tc>
                  <a:txBody>
                    <a:bodyPr/>
                    <a:lstStyle/>
                    <a:p>
                      <a:pPr algn="l"/>
                      <a:r>
                        <a:rPr sz="1400">
                          <a:solidFill>
                            <a:srgbClr val="222B33"/>
                          </a:solidFill>
                          <a:latin typeface="Calibri"/>
                        </a:rPr>
                        <a:t>EXTRA, parole spontanée</a:t>
                      </a:r>
                    </a:p>
                  </a:txBody>
                  <a:tcPr anchor="ctr">
                    <a:solidFill>
                      <a:srgbClr val="FFFFFF"/>
                    </a:solidFill>
                  </a:tcPr>
                </a:tc>
                <a:tc>
                  <a:txBody>
                    <a:bodyPr/>
                    <a:lstStyle/>
                    <a:p>
                      <a:pPr algn="ctr"/>
                      <a:r>
                        <a:rPr sz="1400">
                          <a:solidFill>
                            <a:srgbClr val="222B33"/>
                          </a:solidFill>
                          <a:latin typeface="Calibri"/>
                        </a:rPr>
                        <a:t>+0,03</a:t>
                      </a:r>
                    </a:p>
                  </a:txBody>
                  <a:tcPr anchor="ctr">
                    <a:solidFill>
                      <a:srgbClr val="FFFFFF"/>
                    </a:solidFill>
                  </a:tcPr>
                </a:tc>
                <a:tc>
                  <a:txBody>
                    <a:bodyPr/>
                    <a:lstStyle/>
                    <a:p>
                      <a:pPr algn="ctr"/>
                      <a:r>
                        <a:rPr sz="1400" dirty="0">
                          <a:solidFill>
                            <a:srgbClr val="222B33"/>
                          </a:solidFill>
                          <a:latin typeface="Calibri"/>
                        </a:rPr>
                        <a:t>−0,02</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24" name="Rounded Rectangle 23"/>
          <p:cNvSpPr/>
          <p:nvPr/>
        </p:nvSpPr>
        <p:spPr>
          <a:xfrm>
            <a:off x="1737360" y="4023360"/>
            <a:ext cx="8686800" cy="128016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965960" y="4279392"/>
            <a:ext cx="8229600" cy="960120"/>
          </a:xfrm>
          <a:prstGeom prst="rect">
            <a:avLst/>
          </a:prstGeom>
          <a:noFill/>
        </p:spPr>
        <p:txBody>
          <a:bodyPr wrap="square" lIns="0" tIns="0" rIns="0" bIns="0">
            <a:spAutoFit/>
          </a:bodyPr>
          <a:lstStyle/>
          <a:p>
            <a:pPr algn="ctr">
              <a:lnSpc>
                <a:spcPct val="120000"/>
              </a:lnSpc>
            </a:pPr>
            <a:r>
              <a:rPr sz="1600" b="1" i="0">
                <a:solidFill>
                  <a:srgbClr val="123D33"/>
                </a:solidFill>
                <a:latin typeface="Calibri"/>
              </a:rPr>
              <a:t>C'est la difficulté STRUCTURALE, et non la prévisibilité globale d'un modèle de langue,</a:t>
            </a:r>
          </a:p>
          <a:p>
            <a:pPr algn="ctr">
              <a:lnSpc>
                <a:spcPct val="120000"/>
              </a:lnSpc>
            </a:pPr>
            <a:r>
              <a:rPr sz="1600" b="1" i="0">
                <a:solidFill>
                  <a:srgbClr val="123D33"/>
                </a:solidFill>
                <a:latin typeface="Calibri"/>
              </a:rPr>
              <a:t>qui module la durée des mots au-delà de la fréquence.</a:t>
            </a:r>
          </a:p>
        </p:txBody>
      </p:sp>
      <p:sp>
        <p:nvSpPr>
          <p:cNvPr id="26" name="Rounded Rectangle 25"/>
          <p:cNvSpPr/>
          <p:nvPr/>
        </p:nvSpPr>
        <p:spPr>
          <a:xfrm>
            <a:off x="1417320" y="544068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44068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58698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Première comparaison directe des différentes méthodes de calcul de l'indice de surprise, sur les mêmes données et avec les mêmes contrôles.</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CE QUE LE STAGE LAISSE AU LABORATOIRE</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Conclusion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600200"/>
            <a:ext cx="4937760" cy="329184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37360" y="1874519"/>
            <a:ext cx="4389120" cy="283464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Livrables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Le segmenteur prosodique</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La chaîne de calcul des deux surprises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Deux corpus enrichis mot à mot</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Les scripts et les comptes rendus</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L'indicateur EXTRA</a:t>
            </a:r>
          </a:p>
        </p:txBody>
      </p:sp>
      <p:sp>
        <p:nvSpPr>
          <p:cNvPr id="25" name="Rounded Rectangle 24"/>
          <p:cNvSpPr/>
          <p:nvPr/>
        </p:nvSpPr>
        <p:spPr>
          <a:xfrm>
            <a:off x="6720840" y="1600200"/>
            <a:ext cx="4754880" cy="329184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0" y="1874519"/>
            <a:ext cx="4206240" cy="283464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Usage déjà engagé</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Quatre indices de surprise transmis</a:t>
            </a:r>
          </a:p>
          <a:p>
            <a:pPr algn="l">
              <a:lnSpc>
                <a:spcPct val="120000"/>
              </a:lnSpc>
            </a:pPr>
            <a:r>
              <a:rPr sz="1500" b="0" i="0">
                <a:solidFill>
                  <a:srgbClr val="222B33"/>
                </a:solidFill>
                <a:latin typeface="Calibri"/>
              </a:rPr>
              <a:t>   pour l'analyse EEG</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  Une publication scientifique</a:t>
            </a:r>
          </a:p>
          <a:p>
            <a:pPr algn="l">
              <a:lnSpc>
                <a:spcPct val="120000"/>
              </a:lnSpc>
            </a:pPr>
            <a:r>
              <a:rPr sz="1500" b="0" i="0">
                <a:solidFill>
                  <a:srgbClr val="222B33"/>
                </a:solidFill>
                <a:latin typeface="Calibri"/>
              </a:rPr>
              <a:t>   en préparation</a:t>
            </a:r>
          </a:p>
        </p:txBody>
      </p:sp>
      <p:pic>
        <p:nvPicPr>
          <p:cNvPr id="27" name="Picture 26" descr="t_livrables.png"/>
          <p:cNvPicPr>
            <a:picLocks noChangeAspect="1"/>
          </p:cNvPicPr>
          <p:nvPr/>
        </p:nvPicPr>
        <p:blipFill rotWithShape="1">
          <a:blip r:embed="rId4"/>
          <a:srcRect r="63542"/>
          <a:stretch/>
        </p:blipFill>
        <p:spPr>
          <a:xfrm>
            <a:off x="9240982" y="3906841"/>
            <a:ext cx="1066800" cy="858520"/>
          </a:xfrm>
          <a:prstGeom prst="rect">
            <a:avLst/>
          </a:prstGeom>
        </p:spPr>
      </p:pic>
      <p:sp>
        <p:nvSpPr>
          <p:cNvPr id="28" name="Rounded Rectangle 27"/>
          <p:cNvSpPr/>
          <p:nvPr/>
        </p:nvSpPr>
        <p:spPr>
          <a:xfrm>
            <a:off x="1417320" y="512064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417320" y="512064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64208" y="526694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 stage boucle sur la question qui l'avait déclenché : les indices repartent vers l'EEG, cette fois décomposés.</a:t>
            </a:r>
          </a:p>
        </p:txBody>
      </p:sp>
      <p:sp>
        <p:nvSpPr>
          <p:cNvPr id="31" name="TextBox 30"/>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430887"/>
          </a:xfrm>
          <a:prstGeom prst="rect">
            <a:avLst/>
          </a:prstGeom>
          <a:noFill/>
        </p:spPr>
        <p:txBody>
          <a:bodyPr wrap="square" lIns="0" tIns="0" rIns="0" bIns="0">
            <a:spAutoFit/>
          </a:bodyPr>
          <a:lstStyle/>
          <a:p>
            <a:pPr algn="l">
              <a:lnSpc>
                <a:spcPct val="120000"/>
              </a:lnSpc>
            </a:pPr>
            <a:r>
              <a:rPr sz="2500" b="1" i="0" dirty="0">
                <a:solidFill>
                  <a:srgbClr val="123D33"/>
                </a:solidFill>
                <a:latin typeface="Calibri"/>
              </a:rPr>
              <a:t>POUR ALLER PLUS LOIN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Perspectives</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737360" y="1737360"/>
            <a:ext cx="8778240" cy="7315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11680" y="1920240"/>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1</a:t>
            </a:r>
          </a:p>
        </p:txBody>
      </p:sp>
      <p:sp>
        <p:nvSpPr>
          <p:cNvPr id="25" name="TextBox 24"/>
          <p:cNvSpPr txBox="1"/>
          <p:nvPr/>
        </p:nvSpPr>
        <p:spPr>
          <a:xfrm>
            <a:off x="2606040" y="1956816"/>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Rejouer l'analyse EEG avec les indices décomposés</a:t>
            </a:r>
          </a:p>
        </p:txBody>
      </p:sp>
      <p:sp>
        <p:nvSpPr>
          <p:cNvPr id="26" name="Rounded Rectangle 25"/>
          <p:cNvSpPr/>
          <p:nvPr/>
        </p:nvSpPr>
        <p:spPr>
          <a:xfrm>
            <a:off x="1737360" y="2670048"/>
            <a:ext cx="8778240" cy="7315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011680" y="2852928"/>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2</a:t>
            </a:r>
          </a:p>
        </p:txBody>
      </p:sp>
      <p:sp>
        <p:nvSpPr>
          <p:cNvPr id="28" name="TextBox 27"/>
          <p:cNvSpPr txBox="1"/>
          <p:nvPr/>
        </p:nvSpPr>
        <p:spPr>
          <a:xfrm>
            <a:off x="2606040" y="2889504"/>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Construire un indice sémantique explicite</a:t>
            </a:r>
          </a:p>
        </p:txBody>
      </p:sp>
      <p:sp>
        <p:nvSpPr>
          <p:cNvPr id="29" name="Rounded Rectangle 28"/>
          <p:cNvSpPr/>
          <p:nvPr/>
        </p:nvSpPr>
        <p:spPr>
          <a:xfrm>
            <a:off x="1737360" y="3602736"/>
            <a:ext cx="8778240" cy="73152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011680" y="3785616"/>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3</a:t>
            </a:r>
          </a:p>
        </p:txBody>
      </p:sp>
      <p:sp>
        <p:nvSpPr>
          <p:cNvPr id="31" name="TextBox 30"/>
          <p:cNvSpPr txBox="1"/>
          <p:nvPr/>
        </p:nvSpPr>
        <p:spPr>
          <a:xfrm>
            <a:off x="2606040" y="3822192"/>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Consolider le résultat sur la parole spontanée</a:t>
            </a:r>
          </a:p>
        </p:txBody>
      </p:sp>
      <p:sp>
        <p:nvSpPr>
          <p:cNvPr id="36" name="TextBox 35"/>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BILAN ET LIEN AVEC MA FORMATION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Bilan</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737360" y="1691640"/>
            <a:ext cx="8778240" cy="68580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11680" y="1856232"/>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1</a:t>
            </a:r>
          </a:p>
        </p:txBody>
      </p:sp>
      <p:sp>
        <p:nvSpPr>
          <p:cNvPr id="25" name="TextBox 24"/>
          <p:cNvSpPr txBox="1"/>
          <p:nvPr/>
        </p:nvSpPr>
        <p:spPr>
          <a:xfrm>
            <a:off x="2606040" y="1892808"/>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La validité d'un résultat se construit, elle ne se constate pas.</a:t>
            </a:r>
          </a:p>
        </p:txBody>
      </p:sp>
      <p:sp>
        <p:nvSpPr>
          <p:cNvPr id="26" name="Rounded Rectangle 25"/>
          <p:cNvSpPr/>
          <p:nvPr/>
        </p:nvSpPr>
        <p:spPr>
          <a:xfrm>
            <a:off x="1737360" y="2560320"/>
            <a:ext cx="8778240" cy="68580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011680" y="2724912"/>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2</a:t>
            </a:r>
          </a:p>
        </p:txBody>
      </p:sp>
      <p:sp>
        <p:nvSpPr>
          <p:cNvPr id="28" name="TextBox 27"/>
          <p:cNvSpPr txBox="1"/>
          <p:nvPr/>
        </p:nvSpPr>
        <p:spPr>
          <a:xfrm>
            <a:off x="2606040" y="2761488"/>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Un résultat contre-intuitif est d'abord un soupçon méthodologique.</a:t>
            </a:r>
          </a:p>
        </p:txBody>
      </p:sp>
      <p:sp>
        <p:nvSpPr>
          <p:cNvPr id="29" name="Rounded Rectangle 28"/>
          <p:cNvSpPr/>
          <p:nvPr/>
        </p:nvSpPr>
        <p:spPr>
          <a:xfrm>
            <a:off x="1737360" y="3429000"/>
            <a:ext cx="8778240" cy="68580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011680" y="3593592"/>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3</a:t>
            </a:r>
          </a:p>
        </p:txBody>
      </p:sp>
      <p:sp>
        <p:nvSpPr>
          <p:cNvPr id="31" name="TextBox 30"/>
          <p:cNvSpPr txBox="1"/>
          <p:nvPr/>
        </p:nvSpPr>
        <p:spPr>
          <a:xfrm>
            <a:off x="2606040" y="3630168"/>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Un indicateur composite se décompose plutôt qu'il ne se subit.</a:t>
            </a:r>
          </a:p>
        </p:txBody>
      </p:sp>
      <p:sp>
        <p:nvSpPr>
          <p:cNvPr id="32" name="Rounded Rectangle 31"/>
          <p:cNvSpPr/>
          <p:nvPr/>
        </p:nvSpPr>
        <p:spPr>
          <a:xfrm>
            <a:off x="1737360" y="4297680"/>
            <a:ext cx="8778240" cy="68580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011680" y="4462272"/>
            <a:ext cx="365760" cy="365760"/>
          </a:xfrm>
          <a:prstGeom prst="ellipse">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Calibri"/>
              </a:rPr>
              <a:t>4</a:t>
            </a:r>
          </a:p>
        </p:txBody>
      </p:sp>
      <p:sp>
        <p:nvSpPr>
          <p:cNvPr id="34" name="TextBox 33"/>
          <p:cNvSpPr txBox="1"/>
          <p:nvPr/>
        </p:nvSpPr>
        <p:spPr>
          <a:xfrm>
            <a:off x="2606040" y="4498848"/>
            <a:ext cx="7589520" cy="365760"/>
          </a:xfrm>
          <a:prstGeom prst="rect">
            <a:avLst/>
          </a:prstGeom>
          <a:noFill/>
        </p:spPr>
        <p:txBody>
          <a:bodyPr wrap="square" lIns="0" tIns="0" rIns="0" bIns="0">
            <a:spAutoFit/>
          </a:bodyPr>
          <a:lstStyle/>
          <a:p>
            <a:pPr algn="l">
              <a:lnSpc>
                <a:spcPct val="120000"/>
              </a:lnSpc>
            </a:pPr>
            <a:r>
              <a:rPr sz="1600" b="1" i="0">
                <a:solidFill>
                  <a:srgbClr val="123D33"/>
                </a:solidFill>
                <a:latin typeface="Calibri"/>
              </a:rPr>
              <a:t>Reformuler un problème fait partie du travail.</a:t>
            </a:r>
          </a:p>
        </p:txBody>
      </p:sp>
      <p:sp>
        <p:nvSpPr>
          <p:cNvPr id="35" name="Rounded Rectangle 34"/>
          <p:cNvSpPr/>
          <p:nvPr/>
        </p:nvSpPr>
        <p:spPr>
          <a:xfrm>
            <a:off x="1417320" y="5349240"/>
            <a:ext cx="10254082" cy="731520"/>
          </a:xfrm>
          <a:prstGeom prst="roundRect">
            <a:avLst>
              <a:gd name="adj" fmla="val 4000"/>
            </a:avLst>
          </a:prstGeom>
          <a:solidFill>
            <a:srgbClr val="E9EFF0"/>
          </a:solidFill>
          <a:ln w="12700">
            <a:solidFill>
              <a:srgbClr val="E9EF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417320" y="5349240"/>
            <a:ext cx="54864" cy="73152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664208" y="549554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Les statistiques m'ont donné les outils. C'est la démarche de projet, poser le problème avant de coder, qui a fait la différence.</a:t>
            </a:r>
          </a:p>
        </p:txBody>
      </p:sp>
      <p:sp>
        <p:nvSpPr>
          <p:cNvPr id="38" name="TextBox 37"/>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37422" y="0"/>
            <a:ext cx="2047341"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37422" y="2103120"/>
            <a:ext cx="2047341"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ogo_lpl.jpg"/>
          <p:cNvPicPr>
            <a:picLocks noChangeAspect="1"/>
          </p:cNvPicPr>
          <p:nvPr/>
        </p:nvPicPr>
        <p:blipFill>
          <a:blip r:embed="rId3"/>
          <a:stretch>
            <a:fillRect/>
          </a:stretch>
        </p:blipFill>
        <p:spPr>
          <a:xfrm>
            <a:off x="8851392" y="2395728"/>
            <a:ext cx="1627632" cy="1627632"/>
          </a:xfrm>
          <a:prstGeom prst="rect">
            <a:avLst/>
          </a:prstGeom>
        </p:spPr>
      </p:pic>
      <p:pic>
        <p:nvPicPr>
          <p:cNvPr id="22" name="Picture 21" descr="logo_ecc.png"/>
          <p:cNvPicPr>
            <a:picLocks noChangeAspect="1"/>
          </p:cNvPicPr>
          <p:nvPr/>
        </p:nvPicPr>
        <p:blipFill>
          <a:blip r:embed="rId4"/>
          <a:stretch>
            <a:fillRect/>
          </a:stretch>
        </p:blipFill>
        <p:spPr>
          <a:xfrm>
            <a:off x="1133856" y="219456"/>
            <a:ext cx="1524000" cy="1143000"/>
          </a:xfrm>
          <a:prstGeom prst="rect">
            <a:avLst/>
          </a:prstGeom>
        </p:spPr>
      </p:pic>
      <p:sp>
        <p:nvSpPr>
          <p:cNvPr id="23" name="TextBox 22"/>
          <p:cNvSpPr txBox="1"/>
          <p:nvPr/>
        </p:nvSpPr>
        <p:spPr>
          <a:xfrm>
            <a:off x="1371600" y="2743200"/>
            <a:ext cx="6949440" cy="822960"/>
          </a:xfrm>
          <a:prstGeom prst="rect">
            <a:avLst/>
          </a:prstGeom>
          <a:noFill/>
        </p:spPr>
        <p:txBody>
          <a:bodyPr wrap="square" lIns="0" tIns="0" rIns="0" bIns="0">
            <a:spAutoFit/>
          </a:bodyPr>
          <a:lstStyle/>
          <a:p>
            <a:pPr algn="ctr">
              <a:lnSpc>
                <a:spcPct val="120000"/>
              </a:lnSpc>
            </a:pPr>
            <a:r>
              <a:rPr sz="3400" b="1" i="0">
                <a:solidFill>
                  <a:srgbClr val="123D33"/>
                </a:solidFill>
                <a:latin typeface="Calibri"/>
              </a:rPr>
              <a:t>MERCI DE VOTRE ATTENTION</a:t>
            </a:r>
          </a:p>
        </p:txBody>
      </p:sp>
      <p:sp>
        <p:nvSpPr>
          <p:cNvPr id="24" name="Rectangle 23"/>
          <p:cNvSpPr/>
          <p:nvPr/>
        </p:nvSpPr>
        <p:spPr>
          <a:xfrm>
            <a:off x="4206240" y="3611880"/>
            <a:ext cx="1280160" cy="73152"/>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71600" y="3931920"/>
            <a:ext cx="6949440" cy="457200"/>
          </a:xfrm>
          <a:prstGeom prst="rect">
            <a:avLst/>
          </a:prstGeom>
          <a:noFill/>
        </p:spPr>
        <p:txBody>
          <a:bodyPr wrap="square" lIns="0" tIns="0" rIns="0" bIns="0">
            <a:spAutoFit/>
          </a:bodyPr>
          <a:lstStyle/>
          <a:p>
            <a:pPr algn="ctr">
              <a:lnSpc>
                <a:spcPct val="120000"/>
              </a:lnSpc>
            </a:pPr>
            <a:r>
              <a:rPr sz="1800" b="0" i="0">
                <a:solidFill>
                  <a:srgbClr val="5B6670"/>
                </a:solidFill>
                <a:latin typeface="Calibri"/>
              </a:rPr>
              <a:t>Questions</a:t>
            </a:r>
          </a:p>
        </p:txBody>
      </p:sp>
      <p:sp>
        <p:nvSpPr>
          <p:cNvPr id="26" name="TextBox 25"/>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ANNEXE · AVEC ET SANS LE DÉCILE SUPÉRIEUR</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Annexe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325880" y="1554480"/>
            <a:ext cx="5029200" cy="265176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mp_lu_rouge.png"/>
          <p:cNvPicPr>
            <a:picLocks noChangeAspect="1"/>
          </p:cNvPicPr>
          <p:nvPr/>
        </p:nvPicPr>
        <p:blipFill>
          <a:blip r:embed="rId4"/>
          <a:stretch>
            <a:fillRect/>
          </a:stretch>
        </p:blipFill>
        <p:spPr>
          <a:xfrm>
            <a:off x="1463040" y="1783080"/>
            <a:ext cx="4754880" cy="1822704"/>
          </a:xfrm>
          <a:prstGeom prst="rect">
            <a:avLst/>
          </a:prstGeom>
        </p:spPr>
      </p:pic>
      <p:sp>
        <p:nvSpPr>
          <p:cNvPr id="25" name="Rounded Rectangle 24"/>
          <p:cNvSpPr/>
          <p:nvPr/>
        </p:nvSpPr>
        <p:spPr>
          <a:xfrm>
            <a:off x="6492240" y="1554480"/>
            <a:ext cx="5029200" cy="265176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mp_lu_rouge_masque10.png"/>
          <p:cNvPicPr>
            <a:picLocks noChangeAspect="1"/>
          </p:cNvPicPr>
          <p:nvPr/>
        </p:nvPicPr>
        <p:blipFill>
          <a:blip r:embed="rId5"/>
          <a:stretch>
            <a:fillRect/>
          </a:stretch>
        </p:blipFill>
        <p:spPr>
          <a:xfrm>
            <a:off x="6629400" y="1783080"/>
            <a:ext cx="4754880" cy="1822704"/>
          </a:xfrm>
          <a:prstGeom prst="rect">
            <a:avLst/>
          </a:prstGeom>
        </p:spPr>
      </p:pic>
      <p:sp>
        <p:nvSpPr>
          <p:cNvPr id="27" name="TextBox 26"/>
          <p:cNvSpPr txBox="1"/>
          <p:nvPr/>
        </p:nvSpPr>
        <p:spPr>
          <a:xfrm>
            <a:off x="1325880" y="4297680"/>
            <a:ext cx="5029200" cy="365760"/>
          </a:xfrm>
          <a:prstGeom prst="rect">
            <a:avLst/>
          </a:prstGeom>
          <a:noFill/>
        </p:spPr>
        <p:txBody>
          <a:bodyPr wrap="square" lIns="0" tIns="0" rIns="0" bIns="0">
            <a:spAutoFit/>
          </a:bodyPr>
          <a:lstStyle/>
          <a:p>
            <a:pPr algn="ctr">
              <a:lnSpc>
                <a:spcPct val="120000"/>
              </a:lnSpc>
            </a:pPr>
            <a:r>
              <a:rPr sz="1400" b="1" i="0">
                <a:solidFill>
                  <a:srgbClr val="5B6670"/>
                </a:solidFill>
                <a:latin typeface="Calibri"/>
              </a:rPr>
              <a:t>Version publiée</a:t>
            </a:r>
          </a:p>
        </p:txBody>
      </p:sp>
      <p:sp>
        <p:nvSpPr>
          <p:cNvPr id="28" name="TextBox 27"/>
          <p:cNvSpPr txBox="1"/>
          <p:nvPr/>
        </p:nvSpPr>
        <p:spPr>
          <a:xfrm>
            <a:off x="6492240" y="4297680"/>
            <a:ext cx="5029200" cy="365760"/>
          </a:xfrm>
          <a:prstGeom prst="rect">
            <a:avLst/>
          </a:prstGeom>
          <a:noFill/>
        </p:spPr>
        <p:txBody>
          <a:bodyPr wrap="square" lIns="0" tIns="0" rIns="0" bIns="0">
            <a:spAutoFit/>
          </a:bodyPr>
          <a:lstStyle/>
          <a:p>
            <a:pPr algn="ctr">
              <a:lnSpc>
                <a:spcPct val="120000"/>
              </a:lnSpc>
            </a:pPr>
            <a:r>
              <a:rPr sz="1400" b="1" i="0">
                <a:solidFill>
                  <a:srgbClr val="5B6670"/>
                </a:solidFill>
                <a:latin typeface="Calibri"/>
              </a:rPr>
              <a:t>Décile 10 retiré, échelles verrouillées</a:t>
            </a:r>
          </a:p>
        </p:txBody>
      </p:sp>
      <p:sp>
        <p:nvSpPr>
          <p:cNvPr id="29" name="Rounded Rectangle 28"/>
          <p:cNvSpPr/>
          <p:nvPr/>
        </p:nvSpPr>
        <p:spPr>
          <a:xfrm>
            <a:off x="1417320" y="493776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17320" y="493776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64208" y="508406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Pente syntaxique de +0,0010 à +0,0017, pente LLM de −0,0001 à +0,0008. Les neuf points restants sont aux positions exactes de la figure publiée.</a:t>
            </a:r>
          </a:p>
        </p:txBody>
      </p:sp>
      <p:sp>
        <p:nvSpPr>
          <p:cNvPr id="32" name="TextBox 31"/>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ANNEXE · COMPOSITION DU DÉCILE SUPÉRIEUR</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Annexe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graphicFrame>
        <p:nvGraphicFramePr>
          <p:cNvPr id="23" name="Table 22"/>
          <p:cNvGraphicFramePr>
            <a:graphicFrameLocks noGrp="1"/>
          </p:cNvGraphicFramePr>
          <p:nvPr/>
        </p:nvGraphicFramePr>
        <p:xfrm>
          <a:off x="1417320" y="1645920"/>
          <a:ext cx="5120640" cy="246888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411480">
                <a:tc>
                  <a:txBody>
                    <a:bodyPr/>
                    <a:lstStyle/>
                    <a:p>
                      <a:pPr algn="ctr"/>
                      <a:r>
                        <a:rPr sz="1300" b="1">
                          <a:solidFill>
                            <a:srgbClr val="FFFFFF"/>
                          </a:solidFill>
                          <a:latin typeface="Calibri"/>
                        </a:rPr>
                        <a:t>Variable</a:t>
                      </a:r>
                    </a:p>
                  </a:txBody>
                  <a:tcPr anchor="ctr">
                    <a:solidFill>
                      <a:srgbClr val="1B4A56"/>
                    </a:solidFill>
                  </a:tcPr>
                </a:tc>
                <a:tc>
                  <a:txBody>
                    <a:bodyPr/>
                    <a:lstStyle/>
                    <a:p>
                      <a:pPr algn="ctr"/>
                      <a:r>
                        <a:rPr sz="1300" b="1">
                          <a:solidFill>
                            <a:srgbClr val="FFFFFF"/>
                          </a:solidFill>
                          <a:latin typeface="Calibri"/>
                        </a:rPr>
                        <a:t>Décile 10</a:t>
                      </a:r>
                    </a:p>
                  </a:txBody>
                  <a:tcPr anchor="ctr">
                    <a:solidFill>
                      <a:srgbClr val="1B4A56"/>
                    </a:solidFill>
                  </a:tcPr>
                </a:tc>
                <a:tc>
                  <a:txBody>
                    <a:bodyPr/>
                    <a:lstStyle/>
                    <a:p>
                      <a:pPr algn="ctr"/>
                      <a:r>
                        <a:rPr sz="1300" b="1">
                          <a:solidFill>
                            <a:srgbClr val="FFFFFF"/>
                          </a:solidFill>
                          <a:latin typeface="Calibri"/>
                        </a:rPr>
                        <a:t>Déciles 1 à 9</a:t>
                      </a:r>
                    </a:p>
                  </a:txBody>
                  <a:tcPr anchor="ctr">
                    <a:solidFill>
                      <a:srgbClr val="1B4A56"/>
                    </a:solidFill>
                  </a:tcPr>
                </a:tc>
                <a:extLst>
                  <a:ext uri="{0D108BD9-81ED-4DB2-BD59-A6C34878D82A}">
                    <a16:rowId xmlns:a16="http://schemas.microsoft.com/office/drawing/2014/main" val="10000"/>
                  </a:ext>
                </a:extLst>
              </a:tr>
              <a:tr h="411480">
                <a:tc>
                  <a:txBody>
                    <a:bodyPr/>
                    <a:lstStyle/>
                    <a:p>
                      <a:pPr algn="l"/>
                      <a:r>
                        <a:rPr sz="1300">
                          <a:solidFill>
                            <a:srgbClr val="222B33"/>
                          </a:solidFill>
                          <a:latin typeface="Calibri"/>
                        </a:rPr>
                        <a:t>Effectif</a:t>
                      </a:r>
                    </a:p>
                  </a:txBody>
                  <a:tcPr anchor="ctr">
                    <a:solidFill>
                      <a:srgbClr val="E9EFF0"/>
                    </a:solidFill>
                  </a:tcPr>
                </a:tc>
                <a:tc>
                  <a:txBody>
                    <a:bodyPr/>
                    <a:lstStyle/>
                    <a:p>
                      <a:pPr algn="ctr"/>
                      <a:r>
                        <a:rPr sz="1300">
                          <a:solidFill>
                            <a:srgbClr val="222B33"/>
                          </a:solidFill>
                          <a:latin typeface="Calibri"/>
                        </a:rPr>
                        <a:t>1 142 mots</a:t>
                      </a:r>
                    </a:p>
                  </a:txBody>
                  <a:tcPr anchor="ctr">
                    <a:solidFill>
                      <a:srgbClr val="E9EFF0"/>
                    </a:solidFill>
                  </a:tcPr>
                </a:tc>
                <a:tc>
                  <a:txBody>
                    <a:bodyPr/>
                    <a:lstStyle/>
                    <a:p>
                      <a:pPr algn="ctr"/>
                      <a:r>
                        <a:rPr sz="1300">
                          <a:solidFill>
                            <a:srgbClr val="222B33"/>
                          </a:solidFill>
                          <a:latin typeface="Calibri"/>
                        </a:rPr>
                        <a:t>10 271 mots</a:t>
                      </a:r>
                    </a:p>
                  </a:txBody>
                  <a:tcPr anchor="ctr">
                    <a:solidFill>
                      <a:srgbClr val="E9EFF0"/>
                    </a:solidFill>
                  </a:tcPr>
                </a:tc>
                <a:extLst>
                  <a:ext uri="{0D108BD9-81ED-4DB2-BD59-A6C34878D82A}">
                    <a16:rowId xmlns:a16="http://schemas.microsoft.com/office/drawing/2014/main" val="10001"/>
                  </a:ext>
                </a:extLst>
              </a:tr>
              <a:tr h="411480">
                <a:tc>
                  <a:txBody>
                    <a:bodyPr/>
                    <a:lstStyle/>
                    <a:p>
                      <a:pPr algn="l"/>
                      <a:r>
                        <a:rPr sz="1300">
                          <a:solidFill>
                            <a:srgbClr val="222B33"/>
                          </a:solidFill>
                          <a:latin typeface="Calibri"/>
                        </a:rPr>
                        <a:t>Mots de contenu</a:t>
                      </a:r>
                    </a:p>
                  </a:txBody>
                  <a:tcPr anchor="ctr">
                    <a:solidFill>
                      <a:srgbClr val="FFFFFF"/>
                    </a:solidFill>
                  </a:tcPr>
                </a:tc>
                <a:tc>
                  <a:txBody>
                    <a:bodyPr/>
                    <a:lstStyle/>
                    <a:p>
                      <a:pPr algn="ctr"/>
                      <a:r>
                        <a:rPr sz="1300">
                          <a:solidFill>
                            <a:srgbClr val="222B33"/>
                          </a:solidFill>
                          <a:latin typeface="Calibri"/>
                        </a:rPr>
                        <a:t>93,8 %</a:t>
                      </a:r>
                    </a:p>
                  </a:txBody>
                  <a:tcPr anchor="ctr">
                    <a:solidFill>
                      <a:srgbClr val="FFFFFF"/>
                    </a:solidFill>
                  </a:tcPr>
                </a:tc>
                <a:tc>
                  <a:txBody>
                    <a:bodyPr/>
                    <a:lstStyle/>
                    <a:p>
                      <a:pPr algn="ctr"/>
                      <a:r>
                        <a:rPr sz="1300">
                          <a:solidFill>
                            <a:srgbClr val="222B33"/>
                          </a:solidFill>
                          <a:latin typeface="Calibri"/>
                        </a:rPr>
                        <a:t>49,4 %</a:t>
                      </a:r>
                    </a:p>
                  </a:txBody>
                  <a:tcPr anchor="ctr">
                    <a:solidFill>
                      <a:srgbClr val="FFFFFF"/>
                    </a:solidFill>
                  </a:tcPr>
                </a:tc>
                <a:extLst>
                  <a:ext uri="{0D108BD9-81ED-4DB2-BD59-A6C34878D82A}">
                    <a16:rowId xmlns:a16="http://schemas.microsoft.com/office/drawing/2014/main" val="10002"/>
                  </a:ext>
                </a:extLst>
              </a:tr>
              <a:tr h="411480">
                <a:tc>
                  <a:txBody>
                    <a:bodyPr/>
                    <a:lstStyle/>
                    <a:p>
                      <a:pPr algn="l"/>
                      <a:r>
                        <a:rPr sz="1300">
                          <a:solidFill>
                            <a:srgbClr val="222B33"/>
                          </a:solidFill>
                          <a:latin typeface="Calibri"/>
                        </a:rPr>
                        <a:t>Longueur moyenne</a:t>
                      </a:r>
                    </a:p>
                  </a:txBody>
                  <a:tcPr anchor="ctr">
                    <a:solidFill>
                      <a:srgbClr val="E9EFF0"/>
                    </a:solidFill>
                  </a:tcPr>
                </a:tc>
                <a:tc>
                  <a:txBody>
                    <a:bodyPr/>
                    <a:lstStyle/>
                    <a:p>
                      <a:pPr algn="ctr"/>
                      <a:r>
                        <a:rPr sz="1300">
                          <a:solidFill>
                            <a:srgbClr val="222B33"/>
                          </a:solidFill>
                          <a:latin typeface="Calibri"/>
                        </a:rPr>
                        <a:t>4,98 phonèmes</a:t>
                      </a:r>
                    </a:p>
                  </a:txBody>
                  <a:tcPr anchor="ctr">
                    <a:solidFill>
                      <a:srgbClr val="E9EFF0"/>
                    </a:solidFill>
                  </a:tcPr>
                </a:tc>
                <a:tc>
                  <a:txBody>
                    <a:bodyPr/>
                    <a:lstStyle/>
                    <a:p>
                      <a:pPr algn="ctr"/>
                      <a:r>
                        <a:rPr sz="1300">
                          <a:solidFill>
                            <a:srgbClr val="222B33"/>
                          </a:solidFill>
                          <a:latin typeface="Calibri"/>
                        </a:rPr>
                        <a:t>2,87 phonèmes</a:t>
                      </a:r>
                    </a:p>
                  </a:txBody>
                  <a:tcPr anchor="ctr">
                    <a:solidFill>
                      <a:srgbClr val="E9EFF0"/>
                    </a:solidFill>
                  </a:tcPr>
                </a:tc>
                <a:extLst>
                  <a:ext uri="{0D108BD9-81ED-4DB2-BD59-A6C34878D82A}">
                    <a16:rowId xmlns:a16="http://schemas.microsoft.com/office/drawing/2014/main" val="10003"/>
                  </a:ext>
                </a:extLst>
              </a:tr>
              <a:tr h="411480">
                <a:tc>
                  <a:txBody>
                    <a:bodyPr/>
                    <a:lstStyle/>
                    <a:p>
                      <a:pPr algn="l"/>
                      <a:r>
                        <a:rPr sz="1300">
                          <a:solidFill>
                            <a:srgbClr val="222B33"/>
                          </a:solidFill>
                          <a:latin typeface="Calibri"/>
                        </a:rPr>
                        <a:t>Fréquence Zipf</a:t>
                      </a:r>
                    </a:p>
                  </a:txBody>
                  <a:tcPr anchor="ctr">
                    <a:solidFill>
                      <a:srgbClr val="FFFFFF"/>
                    </a:solidFill>
                  </a:tcPr>
                </a:tc>
                <a:tc>
                  <a:txBody>
                    <a:bodyPr/>
                    <a:lstStyle/>
                    <a:p>
                      <a:pPr algn="ctr"/>
                      <a:r>
                        <a:rPr sz="1300">
                          <a:solidFill>
                            <a:srgbClr val="222B33"/>
                          </a:solidFill>
                          <a:latin typeface="Calibri"/>
                        </a:rPr>
                        <a:t>3,99</a:t>
                      </a:r>
                    </a:p>
                  </a:txBody>
                  <a:tcPr anchor="ctr">
                    <a:solidFill>
                      <a:srgbClr val="FFFFFF"/>
                    </a:solidFill>
                  </a:tcPr>
                </a:tc>
                <a:tc>
                  <a:txBody>
                    <a:bodyPr/>
                    <a:lstStyle/>
                    <a:p>
                      <a:pPr algn="ctr"/>
                      <a:r>
                        <a:rPr sz="1300">
                          <a:solidFill>
                            <a:srgbClr val="222B33"/>
                          </a:solidFill>
                          <a:latin typeface="Calibri"/>
                        </a:rPr>
                        <a:t>6,24</a:t>
                      </a:r>
                    </a:p>
                  </a:txBody>
                  <a:tcPr anchor="ctr">
                    <a:solidFill>
                      <a:srgbClr val="FFFFFF"/>
                    </a:solidFill>
                  </a:tcPr>
                </a:tc>
                <a:extLst>
                  <a:ext uri="{0D108BD9-81ED-4DB2-BD59-A6C34878D82A}">
                    <a16:rowId xmlns:a16="http://schemas.microsoft.com/office/drawing/2014/main" val="10004"/>
                  </a:ext>
                </a:extLst>
              </a:tr>
              <a:tr h="411480">
                <a:tc>
                  <a:txBody>
                    <a:bodyPr/>
                    <a:lstStyle/>
                    <a:p>
                      <a:pPr algn="l"/>
                      <a:r>
                        <a:rPr sz="1300">
                          <a:solidFill>
                            <a:srgbClr val="222B33"/>
                          </a:solidFill>
                          <a:latin typeface="Calibri"/>
                        </a:rPr>
                        <a:t>Durée brute</a:t>
                      </a:r>
                    </a:p>
                  </a:txBody>
                  <a:tcPr anchor="ctr">
                    <a:solidFill>
                      <a:srgbClr val="E9EFF0"/>
                    </a:solidFill>
                  </a:tcPr>
                </a:tc>
                <a:tc>
                  <a:txBody>
                    <a:bodyPr/>
                    <a:lstStyle/>
                    <a:p>
                      <a:pPr algn="ctr"/>
                      <a:r>
                        <a:rPr sz="1300">
                          <a:solidFill>
                            <a:srgbClr val="222B33"/>
                          </a:solidFill>
                          <a:latin typeface="Calibri"/>
                        </a:rPr>
                        <a:t>0,406 s</a:t>
                      </a:r>
                    </a:p>
                  </a:txBody>
                  <a:tcPr anchor="ctr">
                    <a:solidFill>
                      <a:srgbClr val="E9EFF0"/>
                    </a:solidFill>
                  </a:tcPr>
                </a:tc>
                <a:tc>
                  <a:txBody>
                    <a:bodyPr/>
                    <a:lstStyle/>
                    <a:p>
                      <a:pPr algn="ctr"/>
                      <a:r>
                        <a:rPr sz="1300">
                          <a:solidFill>
                            <a:srgbClr val="222B33"/>
                          </a:solidFill>
                          <a:latin typeface="Calibri"/>
                        </a:rPr>
                        <a:t>0,215 s</a:t>
                      </a:r>
                    </a:p>
                  </a:txBody>
                  <a:tcPr anchor="ctr">
                    <a:solidFill>
                      <a:srgbClr val="E9EFF0"/>
                    </a:solidFill>
                  </a:tcPr>
                </a:tc>
                <a:extLst>
                  <a:ext uri="{0D108BD9-81ED-4DB2-BD59-A6C34878D82A}">
                    <a16:rowId xmlns:a16="http://schemas.microsoft.com/office/drawing/2014/main" val="10005"/>
                  </a:ext>
                </a:extLst>
              </a:tr>
            </a:tbl>
          </a:graphicData>
        </a:graphic>
      </p:graphicFrame>
      <p:sp>
        <p:nvSpPr>
          <p:cNvPr id="24" name="Rounded Rectangle 23"/>
          <p:cNvSpPr/>
          <p:nvPr/>
        </p:nvSpPr>
        <p:spPr>
          <a:xfrm>
            <a:off x="6720840" y="1645920"/>
            <a:ext cx="4754880" cy="3108960"/>
          </a:xfrm>
          <a:prstGeom prst="roundRect">
            <a:avLst>
              <a:gd name="adj" fmla="val 4000"/>
            </a:avLst>
          </a:prstGeom>
          <a:solidFill>
            <a:srgbClr val="FFFFFF"/>
          </a:solidFill>
          <a:ln w="12700">
            <a:solidFill>
              <a:srgbClr val="C9D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95160" y="1874519"/>
            <a:ext cx="4297680" cy="2651760"/>
          </a:xfrm>
          <a:prstGeom prst="rect">
            <a:avLst/>
          </a:prstGeom>
          <a:noFill/>
        </p:spPr>
        <p:txBody>
          <a:bodyPr wrap="square" lIns="0" tIns="0" rIns="0" bIns="0">
            <a:spAutoFit/>
          </a:bodyPr>
          <a:lstStyle/>
          <a:p>
            <a:pPr algn="l">
              <a:lnSpc>
                <a:spcPct val="120000"/>
              </a:lnSpc>
            </a:pPr>
            <a:r>
              <a:rPr sz="1400" b="0" i="0">
                <a:solidFill>
                  <a:srgbClr val="222B33"/>
                </a:solidFill>
                <a:latin typeface="Calibri"/>
              </a:rPr>
              <a:t>Trois explications testées</a:t>
            </a:r>
          </a:p>
          <a:p>
            <a:pPr algn="l">
              <a:lnSpc>
                <a:spcPct val="120000"/>
              </a:lnSpc>
            </a:pPr>
            <a:endParaRPr sz="1400" b="0" i="0">
              <a:solidFill>
                <a:srgbClr val="222B33"/>
              </a:solidFill>
              <a:latin typeface="Calibri"/>
            </a:endParaRPr>
          </a:p>
          <a:p>
            <a:pPr algn="l">
              <a:lnSpc>
                <a:spcPct val="120000"/>
              </a:lnSpc>
            </a:pPr>
            <a:r>
              <a:rPr sz="1400" b="0" i="0">
                <a:solidFill>
                  <a:srgbClr val="222B33"/>
                </a:solidFill>
                <a:latin typeface="Calibri"/>
              </a:rPr>
              <a:t>•  10 mots sans fréquence : aucun effet</a:t>
            </a:r>
          </a:p>
          <a:p>
            <a:pPr algn="l">
              <a:lnSpc>
                <a:spcPct val="120000"/>
              </a:lnSpc>
            </a:pPr>
            <a:endParaRPr sz="1400" b="0" i="0">
              <a:solidFill>
                <a:srgbClr val="222B33"/>
              </a:solidFill>
              <a:latin typeface="Calibri"/>
            </a:endParaRPr>
          </a:p>
          <a:p>
            <a:pPr algn="l">
              <a:lnSpc>
                <a:spcPct val="120000"/>
              </a:lnSpc>
            </a:pPr>
            <a:r>
              <a:rPr sz="1400" b="0" i="0">
                <a:solidFill>
                  <a:srgbClr val="222B33"/>
                </a:solidFill>
                <a:latin typeface="Calibri"/>
              </a:rPr>
              <a:t>•  22 noms propres : aucun effet</a:t>
            </a:r>
          </a:p>
          <a:p>
            <a:pPr algn="l">
              <a:lnSpc>
                <a:spcPct val="120000"/>
              </a:lnSpc>
            </a:pPr>
            <a:endParaRPr sz="1400" b="0" i="0">
              <a:solidFill>
                <a:srgbClr val="222B33"/>
              </a:solidFill>
              <a:latin typeface="Calibri"/>
            </a:endParaRPr>
          </a:p>
          <a:p>
            <a:pPr algn="l">
              <a:lnSpc>
                <a:spcPct val="120000"/>
              </a:lnSpc>
            </a:pPr>
            <a:r>
              <a:rPr sz="1400" b="0" i="0">
                <a:solidFill>
                  <a:srgbClr val="222B33"/>
                </a:solidFill>
                <a:latin typeface="Calibri"/>
              </a:rPr>
              <a:t>•  Contrôles assouplis : aucun effet</a:t>
            </a:r>
          </a:p>
          <a:p>
            <a:pPr algn="l">
              <a:lnSpc>
                <a:spcPct val="120000"/>
              </a:lnSpc>
            </a:pPr>
            <a:endParaRPr sz="1400" b="0" i="0">
              <a:solidFill>
                <a:srgbClr val="222B33"/>
              </a:solidFill>
              <a:latin typeface="Calibri"/>
            </a:endParaRPr>
          </a:p>
          <a:p>
            <a:pPr algn="l">
              <a:lnSpc>
                <a:spcPct val="120000"/>
              </a:lnSpc>
            </a:pPr>
            <a:r>
              <a:rPr sz="1400" b="0" i="0">
                <a:solidFill>
                  <a:srgbClr val="222B33"/>
                </a:solidFill>
                <a:latin typeface="Calibri"/>
              </a:rPr>
              <a:t>Reste la quasi-collinéarité entre</a:t>
            </a:r>
          </a:p>
          <a:p>
            <a:pPr algn="l">
              <a:lnSpc>
                <a:spcPct val="120000"/>
              </a:lnSpc>
            </a:pPr>
            <a:r>
              <a:rPr sz="1400" b="0" i="0">
                <a:solidFill>
                  <a:srgbClr val="222B33"/>
                </a:solidFill>
                <a:latin typeface="Calibri"/>
              </a:rPr>
              <a:t>surprise et contrôles au sommet</a:t>
            </a:r>
          </a:p>
          <a:p>
            <a:pPr algn="l">
              <a:lnSpc>
                <a:spcPct val="120000"/>
              </a:lnSpc>
            </a:pPr>
            <a:r>
              <a:rPr sz="1400" b="0" i="0">
                <a:solidFill>
                  <a:srgbClr val="222B33"/>
                </a:solidFill>
                <a:latin typeface="Calibri"/>
              </a:rPr>
              <a:t>de l'échelle.</a:t>
            </a:r>
          </a:p>
        </p:txBody>
      </p:sp>
      <p:sp>
        <p:nvSpPr>
          <p:cNvPr id="26" name="Rounded Rectangle 25"/>
          <p:cNvSpPr/>
          <p:nvPr/>
        </p:nvSpPr>
        <p:spPr>
          <a:xfrm>
            <a:off x="1417320" y="502920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02920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17550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La progression est continue d'un décile à l'autre : le décile 10 est l'extrémité d'un continuum, pas une population distincte.</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3213" cy="6858000"/>
          </a:xfrm>
          <a:prstGeom prst="rect">
            <a:avLst/>
          </a:prstGeom>
          <a:solidFill>
            <a:srgbClr val="1B4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5156"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5759"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6362" y="169164"/>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5759"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26362" y="429767"/>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156"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59"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6362" y="690370"/>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59"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6362" y="950973"/>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156"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59"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2" y="1211576"/>
            <a:ext cx="47548" cy="475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 y="1444752"/>
            <a:ext cx="47548" cy="4178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384048"/>
            <a:ext cx="9966960" cy="731520"/>
          </a:xfrm>
          <a:prstGeom prst="rect">
            <a:avLst/>
          </a:prstGeom>
          <a:noFill/>
        </p:spPr>
        <p:txBody>
          <a:bodyPr wrap="square" lIns="0" tIns="0" rIns="0" bIns="0">
            <a:spAutoFit/>
          </a:bodyPr>
          <a:lstStyle/>
          <a:p>
            <a:pPr algn="l">
              <a:lnSpc>
                <a:spcPct val="120000"/>
              </a:lnSpc>
            </a:pPr>
            <a:r>
              <a:rPr sz="2500" b="1" i="0">
                <a:solidFill>
                  <a:srgbClr val="123D33"/>
                </a:solidFill>
                <a:latin typeface="Calibri"/>
              </a:rPr>
              <a:t>ANNEXE · LE MODÈLE DE RÉGRESSION</a:t>
            </a:r>
          </a:p>
        </p:txBody>
      </p:sp>
      <p:sp>
        <p:nvSpPr>
          <p:cNvPr id="20" name="Rectangle 19"/>
          <p:cNvSpPr/>
          <p:nvPr/>
        </p:nvSpPr>
        <p:spPr>
          <a:xfrm>
            <a:off x="1417320" y="1024128"/>
            <a:ext cx="1143000" cy="6858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24912" y="969264"/>
            <a:ext cx="6400800" cy="320040"/>
          </a:xfrm>
          <a:prstGeom prst="rect">
            <a:avLst/>
          </a:prstGeom>
          <a:noFill/>
        </p:spPr>
        <p:txBody>
          <a:bodyPr wrap="square" lIns="0" tIns="0" rIns="0" bIns="0">
            <a:spAutoFit/>
          </a:bodyPr>
          <a:lstStyle/>
          <a:p>
            <a:pPr algn="l">
              <a:lnSpc>
                <a:spcPct val="120000"/>
              </a:lnSpc>
            </a:pPr>
            <a:r>
              <a:rPr sz="1200" b="0" i="0">
                <a:solidFill>
                  <a:srgbClr val="5B6670"/>
                </a:solidFill>
                <a:latin typeface="Calibri"/>
              </a:rPr>
              <a:t>Annexe</a:t>
            </a:r>
          </a:p>
        </p:txBody>
      </p:sp>
      <p:pic>
        <p:nvPicPr>
          <p:cNvPr id="22" name="Picture 21" descr="logo_ecc.png"/>
          <p:cNvPicPr>
            <a:picLocks noChangeAspect="1"/>
          </p:cNvPicPr>
          <p:nvPr/>
        </p:nvPicPr>
        <p:blipFill>
          <a:blip r:embed="rId3"/>
          <a:stretch>
            <a:fillRect/>
          </a:stretch>
        </p:blipFill>
        <p:spPr>
          <a:xfrm>
            <a:off x="10927080" y="310896"/>
            <a:ext cx="755904" cy="566928"/>
          </a:xfrm>
          <a:prstGeom prst="rect">
            <a:avLst/>
          </a:prstGeom>
        </p:spPr>
      </p:pic>
      <p:sp>
        <p:nvSpPr>
          <p:cNvPr id="23" name="Rounded Rectangle 22"/>
          <p:cNvSpPr/>
          <p:nvPr/>
        </p:nvSpPr>
        <p:spPr>
          <a:xfrm>
            <a:off x="1417320" y="1737360"/>
            <a:ext cx="10254082" cy="777240"/>
          </a:xfrm>
          <a:prstGeom prst="roundRect">
            <a:avLst>
              <a:gd name="adj" fmla="val 4000"/>
            </a:avLst>
          </a:prstGeom>
          <a:solidFill>
            <a:srgbClr val="E6F0EC"/>
          </a:solidFill>
          <a:ln w="12700">
            <a:solidFill>
              <a:srgbClr val="E6F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45920" y="1947672"/>
            <a:ext cx="9796882" cy="457200"/>
          </a:xfrm>
          <a:prstGeom prst="rect">
            <a:avLst/>
          </a:prstGeom>
          <a:noFill/>
        </p:spPr>
        <p:txBody>
          <a:bodyPr wrap="square" lIns="0" tIns="0" rIns="0" bIns="0">
            <a:spAutoFit/>
          </a:bodyPr>
          <a:lstStyle/>
          <a:p>
            <a:pPr algn="ctr">
              <a:lnSpc>
                <a:spcPct val="120000"/>
              </a:lnSpc>
            </a:pPr>
            <a:r>
              <a:rPr sz="1700" b="1" i="0">
                <a:solidFill>
                  <a:srgbClr val="123D33"/>
                </a:solidFill>
                <a:latin typeface="Calibri"/>
              </a:rPr>
              <a:t>durée ~ longueur × fréquence + classe du mot + surprise</a:t>
            </a:r>
          </a:p>
        </p:txBody>
      </p:sp>
      <p:sp>
        <p:nvSpPr>
          <p:cNvPr id="25" name="TextBox 24"/>
          <p:cNvSpPr txBox="1"/>
          <p:nvPr/>
        </p:nvSpPr>
        <p:spPr>
          <a:xfrm>
            <a:off x="1737360" y="2880360"/>
            <a:ext cx="9692640" cy="2194560"/>
          </a:xfrm>
          <a:prstGeom prst="rect">
            <a:avLst/>
          </a:prstGeom>
          <a:noFill/>
        </p:spPr>
        <p:txBody>
          <a:bodyPr wrap="square" lIns="0" tIns="0" rIns="0" bIns="0">
            <a:spAutoFit/>
          </a:bodyPr>
          <a:lstStyle/>
          <a:p>
            <a:pPr algn="l">
              <a:lnSpc>
                <a:spcPct val="120000"/>
              </a:lnSpc>
            </a:pPr>
            <a:r>
              <a:rPr sz="1500" b="0" i="0">
                <a:solidFill>
                  <a:srgbClr val="222B33"/>
                </a:solidFill>
                <a:latin typeface="Calibri"/>
              </a:rPr>
              <a:t>Le coefficient commenté est celui de la surprise : la pente de la durée en fonction de la surprise,</a:t>
            </a:r>
          </a:p>
          <a:p>
            <a:pPr algn="l">
              <a:lnSpc>
                <a:spcPct val="120000"/>
              </a:lnSpc>
            </a:pPr>
            <a:r>
              <a:rPr sz="1500" b="0" i="0">
                <a:solidFill>
                  <a:srgbClr val="222B33"/>
                </a:solidFill>
                <a:latin typeface="Calibri"/>
              </a:rPr>
              <a:t>les autres variables étant maintenues constantes. Il s'exprime en secondes par bit.</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+0,00168 signifie qu'un bit de surprise syntaxique supplémentaire allonge le mot d'environ 1,7 milliseconde.</a:t>
            </a:r>
          </a:p>
          <a:p>
            <a:pPr algn="l">
              <a:lnSpc>
                <a:spcPct val="120000"/>
              </a:lnSpc>
            </a:pPr>
            <a:endParaRPr sz="1500" b="0" i="0">
              <a:solidFill>
                <a:srgbClr val="222B33"/>
              </a:solidFill>
              <a:latin typeface="Calibri"/>
            </a:endParaRPr>
          </a:p>
          <a:p>
            <a:pPr algn="l">
              <a:lnSpc>
                <a:spcPct val="120000"/>
              </a:lnSpc>
            </a:pPr>
            <a:r>
              <a:rPr sz="1500" b="0" i="0">
                <a:solidFill>
                  <a:srgbClr val="222B33"/>
                </a:solidFill>
                <a:latin typeface="Calibri"/>
              </a:rPr>
              <a:t>Sur AMI, le modèle ajoute le débit local et un intercept aléatoire par locuteur : modèle mixte.</a:t>
            </a:r>
          </a:p>
        </p:txBody>
      </p:sp>
      <p:sp>
        <p:nvSpPr>
          <p:cNvPr id="26" name="Rounded Rectangle 25"/>
          <p:cNvSpPr/>
          <p:nvPr/>
        </p:nvSpPr>
        <p:spPr>
          <a:xfrm>
            <a:off x="1417320" y="5394960"/>
            <a:ext cx="10254082" cy="731520"/>
          </a:xfrm>
          <a:prstGeom prst="roundRect">
            <a:avLst>
              <a:gd name="adj" fmla="val 4000"/>
            </a:avLst>
          </a:prstGeom>
          <a:solidFill>
            <a:srgbClr val="FAF0E8"/>
          </a:solidFill>
          <a:ln w="12700">
            <a:solidFill>
              <a:srgbClr val="FA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17320" y="5394960"/>
            <a:ext cx="54864" cy="731520"/>
          </a:xfrm>
          <a:prstGeom prst="rect">
            <a:avLst/>
          </a:prstGeom>
          <a:solidFill>
            <a:srgbClr val="B55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64208" y="5541264"/>
            <a:ext cx="9705442" cy="502920"/>
          </a:xfrm>
          <a:prstGeom prst="rect">
            <a:avLst/>
          </a:prstGeom>
          <a:noFill/>
        </p:spPr>
        <p:txBody>
          <a:bodyPr wrap="square" lIns="0" tIns="0" rIns="0" bIns="0">
            <a:spAutoFit/>
          </a:bodyPr>
          <a:lstStyle/>
          <a:p>
            <a:pPr algn="l">
              <a:lnSpc>
                <a:spcPct val="120000"/>
              </a:lnSpc>
            </a:pPr>
            <a:r>
              <a:rPr sz="1350" b="0" i="0">
                <a:solidFill>
                  <a:srgbClr val="222B33"/>
                </a:solidFill>
                <a:latin typeface="Calibri"/>
              </a:rPr>
              <a:t>Ordre de grandeur de la littérature : environ 7 ms par unité de surprise chez Demberg et al. (2012).</a:t>
            </a:r>
          </a:p>
        </p:txBody>
      </p:sp>
      <p:sp>
        <p:nvSpPr>
          <p:cNvPr id="29" name="TextBox 28"/>
          <p:cNvSpPr txBox="1"/>
          <p:nvPr/>
        </p:nvSpPr>
        <p:spPr>
          <a:xfrm>
            <a:off x="11292840" y="6272784"/>
            <a:ext cx="502920" cy="365760"/>
          </a:xfrm>
          <a:prstGeom prst="rect">
            <a:avLst/>
          </a:prstGeom>
          <a:noFill/>
        </p:spPr>
        <p:txBody>
          <a:bodyPr wrap="square" lIns="0" tIns="0" rIns="0" bIns="0">
            <a:spAutoFit/>
          </a:bodyPr>
          <a:lstStyle/>
          <a:p>
            <a:pPr algn="r">
              <a:lnSpc>
                <a:spcPct val="120000"/>
              </a:lnSpc>
            </a:pPr>
            <a:r>
              <a:rPr sz="1400" b="1" i="0">
                <a:solidFill>
                  <a:srgbClr val="B55D29"/>
                </a:solidFill>
                <a:latin typeface="Calibri"/>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3353</Words>
  <Application>Microsoft Office PowerPoint</Application>
  <PresentationFormat>Grand écran</PresentationFormat>
  <Paragraphs>404</Paragraphs>
  <Slides>25</Slides>
  <Notes>25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25</vt:i4>
      </vt:variant>
    </vt:vector>
  </HeadingPairs>
  <TitlesOfParts>
    <vt:vector size="2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user</dc:creator>
  <cp:keywords/>
  <dc:description>generated using python-pptx</dc:description>
  <cp:lastModifiedBy>Nada THABET</cp:lastModifiedBy>
  <cp:revision>6</cp:revision>
  <dcterms:created xsi:type="dcterms:W3CDTF">2013-01-27T09:14:16Z</dcterms:created>
  <dcterms:modified xsi:type="dcterms:W3CDTF">2026-09-02T09:13:36Z</dcterms:modified>
  <cp:category/>
</cp:coreProperties>
</file>